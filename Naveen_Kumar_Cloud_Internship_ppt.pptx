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2F49"/>
        </a:solidFill>
        <a:effectLst/>
      </p:bgPr>
    </p:bg>
    <p:spTree>
      <p:nvGrpSpPr>
        <p:cNvPr id="1" name=""/>
        <p:cNvGrpSpPr/>
        <p:nvPr/>
      </p:nvGrpSpPr>
      <p:grpSpPr/>
      <p:sp>
        <p:nvSpPr>
          <p:cNvPr id="2" name="TextBox 1"/>
          <p:cNvSpPr txBox="1"/>
          <p:nvPr/>
        </p:nvSpPr>
        <p:spPr>
          <a:xfrm>
            <a:off x="713232" y="640080"/>
            <a:ext cx="2194560" cy="320040"/>
          </a:xfrm>
          <a:prstGeom prst="rect">
            <a:avLst/>
          </a:prstGeom>
          <a:noFill/>
        </p:spPr>
        <p:txBody>
          <a:bodyPr wrap="square">
            <a:spAutoFit/>
          </a:bodyPr>
          <a:lstStyle/>
          <a:p>
            <a:pPr algn="l">
              <a:defRPr sz="1900" b="1">
                <a:solidFill>
                  <a:srgbClr val="FFFFFF"/>
                </a:solidFill>
                <a:latin typeface="Aptos"/>
              </a:defRPr>
            </a:pPr>
            <a:r>
              <a:t>DATACOM</a:t>
            </a:r>
          </a:p>
        </p:txBody>
      </p:sp>
      <p:sp>
        <p:nvSpPr>
          <p:cNvPr id="3" name="TextBox 2"/>
          <p:cNvSpPr txBox="1"/>
          <p:nvPr/>
        </p:nvSpPr>
        <p:spPr>
          <a:xfrm>
            <a:off x="713232" y="1572768"/>
            <a:ext cx="6217920" cy="502920"/>
          </a:xfrm>
          <a:prstGeom prst="rect">
            <a:avLst/>
          </a:prstGeom>
          <a:noFill/>
        </p:spPr>
        <p:txBody>
          <a:bodyPr wrap="square">
            <a:spAutoFit/>
          </a:bodyPr>
          <a:lstStyle/>
          <a:p>
            <a:pPr algn="l">
              <a:defRPr sz="3000" b="1">
                <a:solidFill>
                  <a:srgbClr val="FFFFFF"/>
                </a:solidFill>
                <a:latin typeface="Aptos"/>
              </a:defRPr>
            </a:pPr>
            <a:r>
              <a:t>Internship Presentation</a:t>
            </a:r>
          </a:p>
        </p:txBody>
      </p:sp>
      <p:sp>
        <p:nvSpPr>
          <p:cNvPr id="4" name="TextBox 3"/>
          <p:cNvSpPr txBox="1"/>
          <p:nvPr/>
        </p:nvSpPr>
        <p:spPr>
          <a:xfrm>
            <a:off x="713232" y="2212848"/>
            <a:ext cx="6858000" cy="594360"/>
          </a:xfrm>
          <a:prstGeom prst="rect">
            <a:avLst/>
          </a:prstGeom>
          <a:noFill/>
        </p:spPr>
        <p:txBody>
          <a:bodyPr wrap="square">
            <a:spAutoFit/>
          </a:bodyPr>
          <a:lstStyle/>
          <a:p>
            <a:pPr algn="l">
              <a:defRPr sz="2300" b="1">
                <a:solidFill>
                  <a:srgbClr val="D0E0EF"/>
                </a:solidFill>
                <a:latin typeface="Aptos"/>
              </a:defRPr>
            </a:pPr>
            <a:r>
              <a:t>Introduction to Cloud Job Simulation</a:t>
            </a:r>
          </a:p>
        </p:txBody>
      </p:sp>
      <p:sp>
        <p:nvSpPr>
          <p:cNvPr id="5" name="TextBox 4"/>
          <p:cNvSpPr txBox="1"/>
          <p:nvPr/>
        </p:nvSpPr>
        <p:spPr>
          <a:xfrm>
            <a:off x="731520" y="3063240"/>
            <a:ext cx="4846320" cy="320040"/>
          </a:xfrm>
          <a:prstGeom prst="rect">
            <a:avLst/>
          </a:prstGeom>
          <a:noFill/>
        </p:spPr>
        <p:txBody>
          <a:bodyPr wrap="square">
            <a:spAutoFit/>
          </a:bodyPr>
          <a:lstStyle/>
          <a:p>
            <a:pPr algn="l">
              <a:defRPr sz="1500" b="0">
                <a:solidFill>
                  <a:srgbClr val="B9CADB"/>
                </a:solidFill>
                <a:latin typeface="Aptos"/>
              </a:defRPr>
            </a:pPr>
            <a:r>
              <a:t/>
            </a:r>
          </a:p>
        </p:txBody>
      </p:sp>
      <p:sp>
        <p:nvSpPr>
          <p:cNvPr id="6" name="Rectangle 5"/>
          <p:cNvSpPr/>
          <p:nvPr/>
        </p:nvSpPr>
        <p:spPr>
          <a:xfrm>
            <a:off x="731520" y="3749039"/>
            <a:ext cx="5212080" cy="18288"/>
          </a:xfrm>
          <a:prstGeom prst="rect">
            <a:avLst/>
          </a:prstGeom>
          <a:solidFill>
            <a:srgbClr val="567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133087"/>
            <a:ext cx="4114800" cy="365760"/>
          </a:xfrm>
          <a:prstGeom prst="rect">
            <a:avLst/>
          </a:prstGeom>
          <a:noFill/>
        </p:spPr>
        <p:txBody>
          <a:bodyPr wrap="square">
            <a:spAutoFit/>
          </a:bodyPr>
          <a:lstStyle/>
          <a:p>
            <a:pPr algn="l">
              <a:defRPr sz="1800" b="1">
                <a:solidFill>
                  <a:srgbClr val="FFFFFF"/>
                </a:solidFill>
                <a:latin typeface="Aptos"/>
              </a:defRPr>
            </a:pPr>
            <a:r>
              <a:t>Naveen Kumar</a:t>
            </a:r>
          </a:p>
        </p:txBody>
      </p:sp>
      <p:sp>
        <p:nvSpPr>
          <p:cNvPr id="8" name="TextBox 7"/>
          <p:cNvSpPr txBox="1"/>
          <p:nvPr/>
        </p:nvSpPr>
        <p:spPr>
          <a:xfrm>
            <a:off x="731520" y="4590288"/>
            <a:ext cx="5486400" cy="274320"/>
          </a:xfrm>
          <a:prstGeom prst="rect">
            <a:avLst/>
          </a:prstGeom>
          <a:noFill/>
        </p:spPr>
        <p:txBody>
          <a:bodyPr wrap="square">
            <a:spAutoFit/>
          </a:bodyPr>
          <a:lstStyle/>
          <a:p>
            <a:pPr algn="l">
              <a:defRPr sz="1300" b="0">
                <a:solidFill>
                  <a:srgbClr val="CCDAE7"/>
                </a:solidFill>
                <a:latin typeface="Aptos"/>
              </a:defRPr>
            </a:pPr>
            <a:r>
              <a:t>Cloud Computing  |  Roll No. CS-23411631</a:t>
            </a:r>
          </a:p>
        </p:txBody>
      </p:sp>
      <p:sp>
        <p:nvSpPr>
          <p:cNvPr id="9" name="Rounded Rectangle 8"/>
          <p:cNvSpPr/>
          <p:nvPr/>
        </p:nvSpPr>
        <p:spPr>
          <a:xfrm>
            <a:off x="7635240" y="1417320"/>
            <a:ext cx="3383280" cy="347472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431" y="1965960"/>
            <a:ext cx="2606040" cy="1325880"/>
          </a:xfrm>
          <a:prstGeom prst="rect">
            <a:avLst/>
          </a:prstGeom>
          <a:noFill/>
        </p:spPr>
        <p:txBody>
          <a:bodyPr wrap="square">
            <a:spAutoFit/>
          </a:bodyPr>
          <a:lstStyle/>
          <a:p>
            <a:pPr algn="ctr">
              <a:defRPr sz="2400" b="1">
                <a:solidFill>
                  <a:srgbClr val="182F49"/>
                </a:solidFill>
                <a:latin typeface="Aptos"/>
              </a:defRPr>
            </a:pPr>
            <a:r>
              <a:t>CLOUD</a:t>
            </a:r>
            <a:br/>
            <a:r>
              <a:t>JOB</a:t>
            </a:r>
            <a:br/>
            <a:r>
              <a:t>SIMULATION</a:t>
            </a:r>
          </a:p>
        </p:txBody>
      </p:sp>
      <p:sp>
        <p:nvSpPr>
          <p:cNvPr id="11" name="TextBox 10"/>
          <p:cNvSpPr txBox="1"/>
          <p:nvPr/>
        </p:nvSpPr>
        <p:spPr>
          <a:xfrm>
            <a:off x="7973568" y="3520440"/>
            <a:ext cx="2697480" cy="685800"/>
          </a:xfrm>
          <a:prstGeom prst="rect">
            <a:avLst/>
          </a:prstGeom>
          <a:noFill/>
        </p:spPr>
        <p:txBody>
          <a:bodyPr wrap="square">
            <a:spAutoFit/>
          </a:bodyPr>
          <a:lstStyle/>
          <a:p>
            <a:pPr algn="ctr">
              <a:defRPr sz="1300" b="1">
                <a:solidFill>
                  <a:srgbClr val="2B68A8"/>
                </a:solidFill>
                <a:latin typeface="Aptos"/>
              </a:defRPr>
            </a:pPr>
            <a:r>
              <a:t>Azure  •  GitHub</a:t>
            </a:r>
            <a:br/>
            <a:r>
              <a:t>DevOps  •  Automation</a:t>
            </a:r>
          </a:p>
        </p:txBody>
      </p:sp>
      <p:sp>
        <p:nvSpPr>
          <p:cNvPr id="12" name="TextBox 11"/>
          <p:cNvSpPr txBox="1"/>
          <p:nvPr/>
        </p:nvSpPr>
        <p:spPr>
          <a:xfrm>
            <a:off x="8247888" y="5303520"/>
            <a:ext cx="2194560" cy="274320"/>
          </a:xfrm>
          <a:prstGeom prst="rect">
            <a:avLst/>
          </a:prstGeom>
          <a:noFill/>
        </p:spPr>
        <p:txBody>
          <a:bodyPr wrap="square">
            <a:spAutoFit/>
          </a:bodyPr>
          <a:lstStyle/>
          <a:p>
            <a:pPr algn="ctr">
              <a:defRPr sz="1200" b="0">
                <a:solidFill>
                  <a:srgbClr val="BECFDF"/>
                </a:solidFill>
                <a:latin typeface="Aptos"/>
              </a:defRPr>
            </a:pPr>
            <a: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365760" cy="228600"/>
          </a:xfrm>
          <a:prstGeom prst="rect">
            <a:avLst/>
          </a:prstGeom>
          <a:noFill/>
        </p:spPr>
        <p:txBody>
          <a:bodyPr wrap="square">
            <a:spAutoFit/>
          </a:bodyPr>
          <a:lstStyle/>
          <a:p>
            <a:pPr algn="l">
              <a:defRPr sz="1100" b="1">
                <a:solidFill>
                  <a:srgbClr val="2B68A8"/>
                </a:solidFill>
                <a:latin typeface="Aptos"/>
              </a:defRPr>
            </a:pPr>
            <a:r>
              <a:t>02</a:t>
            </a:r>
          </a:p>
        </p:txBody>
      </p:sp>
      <p:sp>
        <p:nvSpPr>
          <p:cNvPr id="4" name="TextBox 3"/>
          <p:cNvSpPr txBox="1"/>
          <p:nvPr/>
        </p:nvSpPr>
        <p:spPr>
          <a:xfrm>
            <a:off x="1143000" y="246888"/>
            <a:ext cx="10241280" cy="411480"/>
          </a:xfrm>
          <a:prstGeom prst="rect">
            <a:avLst/>
          </a:prstGeom>
          <a:noFill/>
        </p:spPr>
        <p:txBody>
          <a:bodyPr wrap="square">
            <a:spAutoFit/>
          </a:bodyPr>
          <a:lstStyle/>
          <a:p>
            <a:pPr algn="l">
              <a:defRPr sz="2500" b="1">
                <a:solidFill>
                  <a:srgbClr val="182F49"/>
                </a:solidFill>
                <a:latin typeface="Aptos"/>
              </a:defRPr>
            </a:pPr>
            <a:r>
              <a:t>About the Job Simulation</a:t>
            </a:r>
          </a:p>
        </p:txBody>
      </p:sp>
      <p:sp>
        <p:nvSpPr>
          <p:cNvPr id="5" name="TextBox 4"/>
          <p:cNvSpPr txBox="1"/>
          <p:nvPr/>
        </p:nvSpPr>
        <p:spPr>
          <a:xfrm>
            <a:off x="1161288" y="749808"/>
            <a:ext cx="10058400" cy="274320"/>
          </a:xfrm>
          <a:prstGeom prst="rect">
            <a:avLst/>
          </a:prstGeom>
          <a:noFill/>
        </p:spPr>
        <p:txBody>
          <a:bodyPr wrap="square">
            <a:spAutoFit/>
          </a:bodyPr>
          <a:lstStyle/>
          <a:p>
            <a:pPr algn="l">
              <a:defRPr sz="1250" b="0">
                <a:solidFill>
                  <a:srgbClr val="687380"/>
                </a:solidFill>
                <a:latin typeface="Aptos"/>
              </a:defRPr>
            </a:pPr>
            <a:r>
              <a:t>The company scenario, my role and the purpose of the tasks</a:t>
            </a:r>
          </a:p>
        </p:txBody>
      </p:sp>
      <p:sp>
        <p:nvSpPr>
          <p:cNvPr id="6" name="Rectangle 5"/>
          <p:cNvSpPr/>
          <p:nvPr/>
        </p:nvSpPr>
        <p:spPr>
          <a:xfrm>
            <a:off x="640080" y="1133856"/>
            <a:ext cx="10881360" cy="13716"/>
          </a:xfrm>
          <a:prstGeom prst="rect">
            <a:avLst/>
          </a:prstGeom>
          <a:solidFill>
            <a:srgbClr val="D3D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417320"/>
            <a:ext cx="2487168" cy="1078992"/>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609344"/>
            <a:ext cx="2103120" cy="182880"/>
          </a:xfrm>
          <a:prstGeom prst="rect">
            <a:avLst/>
          </a:prstGeom>
          <a:noFill/>
        </p:spPr>
        <p:txBody>
          <a:bodyPr wrap="square">
            <a:spAutoFit/>
          </a:bodyPr>
          <a:lstStyle/>
          <a:p>
            <a:pPr algn="l">
              <a:defRPr sz="1000" b="1">
                <a:solidFill>
                  <a:srgbClr val="2B68A8"/>
                </a:solidFill>
                <a:latin typeface="Aptos"/>
              </a:defRPr>
            </a:pPr>
            <a:r>
              <a:t>ORGANISATION</a:t>
            </a:r>
          </a:p>
        </p:txBody>
      </p:sp>
      <p:sp>
        <p:nvSpPr>
          <p:cNvPr id="9" name="TextBox 8"/>
          <p:cNvSpPr txBox="1"/>
          <p:nvPr/>
        </p:nvSpPr>
        <p:spPr>
          <a:xfrm>
            <a:off x="877824" y="1901952"/>
            <a:ext cx="2103120" cy="329184"/>
          </a:xfrm>
          <a:prstGeom prst="rect">
            <a:avLst/>
          </a:prstGeom>
          <a:noFill/>
        </p:spPr>
        <p:txBody>
          <a:bodyPr wrap="square">
            <a:spAutoFit/>
          </a:bodyPr>
          <a:lstStyle/>
          <a:p>
            <a:pPr algn="l">
              <a:defRPr sz="1350" b="1">
                <a:solidFill>
                  <a:srgbClr val="182F49"/>
                </a:solidFill>
                <a:latin typeface="Aptos"/>
              </a:defRPr>
            </a:pPr>
            <a:r>
              <a:t>Datacom</a:t>
            </a:r>
          </a:p>
        </p:txBody>
      </p:sp>
      <p:sp>
        <p:nvSpPr>
          <p:cNvPr id="10" name="Rounded Rectangle 9"/>
          <p:cNvSpPr/>
          <p:nvPr/>
        </p:nvSpPr>
        <p:spPr>
          <a:xfrm>
            <a:off x="3483863" y="1417320"/>
            <a:ext cx="2487168" cy="1078992"/>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48456" y="1609344"/>
            <a:ext cx="2103120" cy="182880"/>
          </a:xfrm>
          <a:prstGeom prst="rect">
            <a:avLst/>
          </a:prstGeom>
          <a:noFill/>
        </p:spPr>
        <p:txBody>
          <a:bodyPr wrap="square">
            <a:spAutoFit/>
          </a:bodyPr>
          <a:lstStyle/>
          <a:p>
            <a:pPr algn="l">
              <a:defRPr sz="1000" b="1">
                <a:solidFill>
                  <a:srgbClr val="3D7F5E"/>
                </a:solidFill>
                <a:latin typeface="Aptos"/>
              </a:defRPr>
            </a:pPr>
            <a:r>
              <a:t>CLIENT SCENARIO</a:t>
            </a:r>
          </a:p>
        </p:txBody>
      </p:sp>
      <p:sp>
        <p:nvSpPr>
          <p:cNvPr id="12" name="TextBox 11"/>
          <p:cNvSpPr txBox="1"/>
          <p:nvPr/>
        </p:nvSpPr>
        <p:spPr>
          <a:xfrm>
            <a:off x="3648456" y="1901952"/>
            <a:ext cx="2103120" cy="329184"/>
          </a:xfrm>
          <a:prstGeom prst="rect">
            <a:avLst/>
          </a:prstGeom>
          <a:noFill/>
        </p:spPr>
        <p:txBody>
          <a:bodyPr wrap="square">
            <a:spAutoFit/>
          </a:bodyPr>
          <a:lstStyle/>
          <a:p>
            <a:pPr algn="l">
              <a:defRPr sz="1350" b="1">
                <a:solidFill>
                  <a:srgbClr val="182F49"/>
                </a:solidFill>
                <a:latin typeface="Aptos"/>
              </a:defRPr>
            </a:pPr>
            <a:r>
              <a:t>WCD Bank</a:t>
            </a:r>
          </a:p>
        </p:txBody>
      </p:sp>
      <p:sp>
        <p:nvSpPr>
          <p:cNvPr id="13" name="Rounded Rectangle 12"/>
          <p:cNvSpPr/>
          <p:nvPr/>
        </p:nvSpPr>
        <p:spPr>
          <a:xfrm>
            <a:off x="6254496" y="1417320"/>
            <a:ext cx="2487168" cy="1078992"/>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609344"/>
            <a:ext cx="2103120" cy="182880"/>
          </a:xfrm>
          <a:prstGeom prst="rect">
            <a:avLst/>
          </a:prstGeom>
          <a:noFill/>
        </p:spPr>
        <p:txBody>
          <a:bodyPr wrap="square">
            <a:spAutoFit/>
          </a:bodyPr>
          <a:lstStyle/>
          <a:p>
            <a:pPr algn="l">
              <a:defRPr sz="1000" b="1">
                <a:solidFill>
                  <a:srgbClr val="D87E3E"/>
                </a:solidFill>
                <a:latin typeface="Aptos"/>
              </a:defRPr>
            </a:pPr>
            <a:r>
              <a:t>MY ROLE</a:t>
            </a:r>
          </a:p>
        </p:txBody>
      </p:sp>
      <p:sp>
        <p:nvSpPr>
          <p:cNvPr id="15" name="TextBox 14"/>
          <p:cNvSpPr txBox="1"/>
          <p:nvPr/>
        </p:nvSpPr>
        <p:spPr>
          <a:xfrm>
            <a:off x="6419088" y="1901952"/>
            <a:ext cx="2103120" cy="329184"/>
          </a:xfrm>
          <a:prstGeom prst="rect">
            <a:avLst/>
          </a:prstGeom>
          <a:noFill/>
        </p:spPr>
        <p:txBody>
          <a:bodyPr wrap="square">
            <a:spAutoFit/>
          </a:bodyPr>
          <a:lstStyle/>
          <a:p>
            <a:pPr algn="l">
              <a:defRPr sz="1350" b="1">
                <a:solidFill>
                  <a:srgbClr val="182F49"/>
                </a:solidFill>
                <a:latin typeface="Aptos"/>
              </a:defRPr>
            </a:pPr>
            <a:r>
              <a:t>Junior DevOps Engineer</a:t>
            </a:r>
          </a:p>
        </p:txBody>
      </p:sp>
      <p:sp>
        <p:nvSpPr>
          <p:cNvPr id="16" name="Rounded Rectangle 15"/>
          <p:cNvSpPr/>
          <p:nvPr/>
        </p:nvSpPr>
        <p:spPr>
          <a:xfrm>
            <a:off x="9025128" y="1417320"/>
            <a:ext cx="2487168" cy="1078992"/>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19" y="1609344"/>
            <a:ext cx="2103120" cy="182880"/>
          </a:xfrm>
          <a:prstGeom prst="rect">
            <a:avLst/>
          </a:prstGeom>
          <a:noFill/>
        </p:spPr>
        <p:txBody>
          <a:bodyPr wrap="square">
            <a:spAutoFit/>
          </a:bodyPr>
          <a:lstStyle/>
          <a:p>
            <a:pPr algn="l">
              <a:defRPr sz="1000" b="1">
                <a:solidFill>
                  <a:srgbClr val="2B68A8"/>
                </a:solidFill>
                <a:latin typeface="Aptos"/>
              </a:defRPr>
            </a:pPr>
            <a:r>
              <a:t>PROJECT STAGE</a:t>
            </a:r>
          </a:p>
        </p:txBody>
      </p:sp>
      <p:sp>
        <p:nvSpPr>
          <p:cNvPr id="18" name="TextBox 17"/>
          <p:cNvSpPr txBox="1"/>
          <p:nvPr/>
        </p:nvSpPr>
        <p:spPr>
          <a:xfrm>
            <a:off x="9189719" y="1901952"/>
            <a:ext cx="2103120" cy="329184"/>
          </a:xfrm>
          <a:prstGeom prst="rect">
            <a:avLst/>
          </a:prstGeom>
          <a:noFill/>
        </p:spPr>
        <p:txBody>
          <a:bodyPr wrap="square">
            <a:spAutoFit/>
          </a:bodyPr>
          <a:lstStyle/>
          <a:p>
            <a:pPr algn="l">
              <a:defRPr sz="1350" b="1">
                <a:solidFill>
                  <a:srgbClr val="182F49"/>
                </a:solidFill>
                <a:latin typeface="Aptos"/>
              </a:defRPr>
            </a:pPr>
            <a:r>
              <a:t>Implementation</a:t>
            </a:r>
          </a:p>
        </p:txBody>
      </p:sp>
      <p:sp>
        <p:nvSpPr>
          <p:cNvPr id="19" name="Rounded Rectangle 18"/>
          <p:cNvSpPr/>
          <p:nvPr/>
        </p:nvSpPr>
        <p:spPr>
          <a:xfrm>
            <a:off x="713232" y="2788920"/>
            <a:ext cx="6446520" cy="242316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063240"/>
            <a:ext cx="2743200" cy="274320"/>
          </a:xfrm>
          <a:prstGeom prst="rect">
            <a:avLst/>
          </a:prstGeom>
          <a:noFill/>
        </p:spPr>
        <p:txBody>
          <a:bodyPr wrap="square">
            <a:spAutoFit/>
          </a:bodyPr>
          <a:lstStyle/>
          <a:p>
            <a:pPr algn="l">
              <a:defRPr sz="1600" b="1">
                <a:solidFill>
                  <a:srgbClr val="182F49"/>
                </a:solidFill>
                <a:latin typeface="Aptos"/>
              </a:defRPr>
            </a:pPr>
            <a:r>
              <a:t>The workplace scenario</a:t>
            </a:r>
          </a:p>
        </p:txBody>
      </p:sp>
      <p:sp>
        <p:nvSpPr>
          <p:cNvPr id="21" name="TextBox 20"/>
          <p:cNvSpPr txBox="1"/>
          <p:nvPr/>
        </p:nvSpPr>
        <p:spPr>
          <a:xfrm>
            <a:off x="960120" y="3493008"/>
            <a:ext cx="5806440" cy="914400"/>
          </a:xfrm>
          <a:prstGeom prst="rect">
            <a:avLst/>
          </a:prstGeom>
          <a:noFill/>
        </p:spPr>
        <p:txBody>
          <a:bodyPr wrap="square">
            <a:spAutoFit/>
          </a:bodyPr>
          <a:lstStyle/>
          <a:p>
            <a:pPr algn="l">
              <a:defRPr sz="1300" b="0">
                <a:solidFill>
                  <a:srgbClr val="687380"/>
                </a:solidFill>
                <a:latin typeface="Aptos"/>
              </a:defRPr>
            </a:pPr>
            <a:r>
              <a:t>WCD Bank was moving its applications, data and IT infrastructure from on-premises data centres to cloud-based services. Datacom was brought in as the subject-matter expert to support the cloud journey.</a:t>
            </a:r>
          </a:p>
        </p:txBody>
      </p:sp>
      <p:sp>
        <p:nvSpPr>
          <p:cNvPr id="22" name="TextBox 21"/>
          <p:cNvSpPr txBox="1"/>
          <p:nvPr/>
        </p:nvSpPr>
        <p:spPr>
          <a:xfrm>
            <a:off x="960120" y="4617720"/>
            <a:ext cx="5806440" cy="384048"/>
          </a:xfrm>
          <a:prstGeom prst="rect">
            <a:avLst/>
          </a:prstGeom>
          <a:noFill/>
        </p:spPr>
        <p:txBody>
          <a:bodyPr wrap="square">
            <a:spAutoFit/>
          </a:bodyPr>
          <a:lstStyle/>
          <a:p>
            <a:pPr algn="l">
              <a:defRPr sz="1220" b="0">
                <a:solidFill>
                  <a:srgbClr val="303B48"/>
                </a:solidFill>
                <a:latin typeface="Aptos"/>
              </a:defRPr>
            </a:pPr>
            <a:r>
              <a:t>The simulation placed me in the implementation phase, where I had to learn the tools and complete practical tasks with guidance from the team.</a:t>
            </a:r>
          </a:p>
        </p:txBody>
      </p:sp>
      <p:sp>
        <p:nvSpPr>
          <p:cNvPr id="23" name="Rounded Rectangle 22"/>
          <p:cNvSpPr/>
          <p:nvPr/>
        </p:nvSpPr>
        <p:spPr>
          <a:xfrm>
            <a:off x="7388352" y="2788920"/>
            <a:ext cx="3913632" cy="24231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62672" y="3063240"/>
            <a:ext cx="3017520" cy="274320"/>
          </a:xfrm>
          <a:prstGeom prst="rect">
            <a:avLst/>
          </a:prstGeom>
          <a:noFill/>
        </p:spPr>
        <p:txBody>
          <a:bodyPr wrap="square">
            <a:spAutoFit/>
          </a:bodyPr>
          <a:lstStyle/>
          <a:p>
            <a:pPr algn="l">
              <a:defRPr sz="1600" b="1">
                <a:solidFill>
                  <a:srgbClr val="182F49"/>
                </a:solidFill>
                <a:latin typeface="Aptos"/>
              </a:defRPr>
            </a:pPr>
            <a:r>
              <a:t>What the simulation covered</a:t>
            </a:r>
          </a:p>
        </p:txBody>
      </p:sp>
      <p:sp>
        <p:nvSpPr>
          <p:cNvPr id="25" name="TextBox 24"/>
          <p:cNvSpPr txBox="1"/>
          <p:nvPr/>
        </p:nvSpPr>
        <p:spPr>
          <a:xfrm>
            <a:off x="7662672" y="3520440"/>
            <a:ext cx="3154680" cy="1234440"/>
          </a:xfrm>
          <a:prstGeom prst="rect">
            <a:avLst/>
          </a:prstGeom>
          <a:noFill/>
        </p:spPr>
        <p:txBody>
          <a:bodyPr wrap="square">
            <a:spAutoFit/>
          </a:bodyPr>
          <a:lstStyle/>
          <a:p>
            <a:pPr>
              <a:spcAft>
                <a:spcPts val="600"/>
              </a:spcAft>
              <a:defRPr sz="1230">
                <a:solidFill>
                  <a:srgbClr val="303B48"/>
                </a:solidFill>
                <a:latin typeface="Aptos"/>
              </a:defRPr>
            </a:pPr>
            <a:r>
              <a:t>• Cloud environment setup</a:t>
            </a:r>
          </a:p>
          <a:p>
            <a:pPr>
              <a:spcAft>
                <a:spcPts val="600"/>
              </a:spcAft>
              <a:defRPr sz="1230">
                <a:solidFill>
                  <a:srgbClr val="303B48"/>
                </a:solidFill>
                <a:latin typeface="Aptos"/>
              </a:defRPr>
            </a:pPr>
            <a:r>
              <a:t>• Azure / Microsoft Entra ID</a:t>
            </a:r>
          </a:p>
          <a:p>
            <a:pPr>
              <a:spcAft>
                <a:spcPts val="600"/>
              </a:spcAft>
              <a:defRPr sz="1230">
                <a:solidFill>
                  <a:srgbClr val="303B48"/>
                </a:solidFill>
                <a:latin typeface="Aptos"/>
              </a:defRPr>
            </a:pPr>
            <a:r>
              <a:t>• Git &amp; GitHub</a:t>
            </a:r>
          </a:p>
          <a:p>
            <a:pPr>
              <a:spcAft>
                <a:spcPts val="600"/>
              </a:spcAft>
              <a:defRPr sz="1230">
                <a:solidFill>
                  <a:srgbClr val="303B48"/>
                </a:solidFill>
                <a:latin typeface="Aptos"/>
              </a:defRPr>
            </a:pPr>
            <a:r>
              <a:t>• GitHub Actions and YAML</a:t>
            </a:r>
          </a:p>
        </p:txBody>
      </p:sp>
      <p:sp>
        <p:nvSpPr>
          <p:cNvPr id="26" name="TextBox 25"/>
          <p:cNvSpPr txBox="1"/>
          <p:nvPr/>
        </p:nvSpPr>
        <p:spPr>
          <a:xfrm>
            <a:off x="640080" y="6455664"/>
            <a:ext cx="10789920" cy="182880"/>
          </a:xfrm>
          <a:prstGeom prst="rect">
            <a:avLst/>
          </a:prstGeom>
          <a:noFill/>
        </p:spPr>
        <p:txBody>
          <a:bodyPr wrap="square">
            <a:spAutoFit/>
          </a:bodyPr>
          <a:lstStyle/>
          <a:p>
            <a:pPr algn="l">
              <a:defRPr sz="900" b="0">
                <a:solidFill>
                  <a:srgbClr val="687380"/>
                </a:solidFill>
                <a:latin typeface="Aptos"/>
              </a:defRPr>
            </a:pPr>
            <a:r>
              <a:t>2  |  Naveen Kumar  •  CS-23411631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365760" cy="228600"/>
          </a:xfrm>
          <a:prstGeom prst="rect">
            <a:avLst/>
          </a:prstGeom>
          <a:noFill/>
        </p:spPr>
        <p:txBody>
          <a:bodyPr wrap="square">
            <a:spAutoFit/>
          </a:bodyPr>
          <a:lstStyle/>
          <a:p>
            <a:pPr algn="l">
              <a:defRPr sz="1100" b="1">
                <a:solidFill>
                  <a:srgbClr val="2B68A8"/>
                </a:solidFill>
                <a:latin typeface="Aptos"/>
              </a:defRPr>
            </a:pPr>
            <a:r>
              <a:t>03</a:t>
            </a:r>
          </a:p>
        </p:txBody>
      </p:sp>
      <p:sp>
        <p:nvSpPr>
          <p:cNvPr id="4" name="TextBox 3"/>
          <p:cNvSpPr txBox="1"/>
          <p:nvPr/>
        </p:nvSpPr>
        <p:spPr>
          <a:xfrm>
            <a:off x="1143000" y="246888"/>
            <a:ext cx="10241280" cy="411480"/>
          </a:xfrm>
          <a:prstGeom prst="rect">
            <a:avLst/>
          </a:prstGeom>
          <a:noFill/>
        </p:spPr>
        <p:txBody>
          <a:bodyPr wrap="square">
            <a:spAutoFit/>
          </a:bodyPr>
          <a:lstStyle/>
          <a:p>
            <a:pPr algn="l">
              <a:defRPr sz="2500" b="1">
                <a:solidFill>
                  <a:srgbClr val="182F49"/>
                </a:solidFill>
                <a:latin typeface="Aptos"/>
              </a:defRPr>
            </a:pPr>
            <a:r>
              <a:t>Task 1 — Register an Application</a:t>
            </a:r>
          </a:p>
        </p:txBody>
      </p:sp>
      <p:sp>
        <p:nvSpPr>
          <p:cNvPr id="5" name="TextBox 4"/>
          <p:cNvSpPr txBox="1"/>
          <p:nvPr/>
        </p:nvSpPr>
        <p:spPr>
          <a:xfrm>
            <a:off x="1161288" y="749808"/>
            <a:ext cx="10058400" cy="274320"/>
          </a:xfrm>
          <a:prstGeom prst="rect">
            <a:avLst/>
          </a:prstGeom>
          <a:noFill/>
        </p:spPr>
        <p:txBody>
          <a:bodyPr wrap="square">
            <a:spAutoFit/>
          </a:bodyPr>
          <a:lstStyle/>
          <a:p>
            <a:pPr algn="l">
              <a:defRPr sz="1250" b="0">
                <a:solidFill>
                  <a:srgbClr val="687380"/>
                </a:solidFill>
                <a:latin typeface="Aptos"/>
              </a:defRPr>
            </a:pPr>
            <a:r>
              <a:t>Setting up the environment and creating a cloud application identity</a:t>
            </a:r>
          </a:p>
        </p:txBody>
      </p:sp>
      <p:sp>
        <p:nvSpPr>
          <p:cNvPr id="6" name="Rectangle 5"/>
          <p:cNvSpPr/>
          <p:nvPr/>
        </p:nvSpPr>
        <p:spPr>
          <a:xfrm>
            <a:off x="640080" y="1133856"/>
            <a:ext cx="10881360" cy="13716"/>
          </a:xfrm>
          <a:prstGeom prst="rect">
            <a:avLst/>
          </a:prstGeom>
          <a:solidFill>
            <a:srgbClr val="D3D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389888"/>
            <a:ext cx="5074920" cy="448056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673352"/>
            <a:ext cx="1828800" cy="274320"/>
          </a:xfrm>
          <a:prstGeom prst="rect">
            <a:avLst/>
          </a:prstGeom>
          <a:noFill/>
        </p:spPr>
        <p:txBody>
          <a:bodyPr wrap="square">
            <a:spAutoFit/>
          </a:bodyPr>
          <a:lstStyle/>
          <a:p>
            <a:pPr algn="l">
              <a:defRPr sz="1600" b="1">
                <a:solidFill>
                  <a:srgbClr val="182F49"/>
                </a:solidFill>
                <a:latin typeface="Aptos"/>
              </a:defRPr>
            </a:pPr>
            <a:r>
              <a:t>The brief</a:t>
            </a:r>
          </a:p>
        </p:txBody>
      </p:sp>
      <p:sp>
        <p:nvSpPr>
          <p:cNvPr id="9" name="TextBox 8"/>
          <p:cNvSpPr txBox="1"/>
          <p:nvPr/>
        </p:nvSpPr>
        <p:spPr>
          <a:xfrm>
            <a:off x="987552" y="2084831"/>
            <a:ext cx="4480560" cy="960120"/>
          </a:xfrm>
          <a:prstGeom prst="rect">
            <a:avLst/>
          </a:prstGeom>
          <a:noFill/>
        </p:spPr>
        <p:txBody>
          <a:bodyPr wrap="square">
            <a:spAutoFit/>
          </a:bodyPr>
          <a:lstStyle/>
          <a:p>
            <a:pPr algn="l">
              <a:defRPr sz="1300" b="0">
                <a:solidFill>
                  <a:srgbClr val="687380"/>
                </a:solidFill>
                <a:latin typeface="Aptos"/>
              </a:defRPr>
            </a:pPr>
            <a:r>
              <a:t>The first task focused on getting the basic tools ready and registering an application in Azure. The goal was to understand identity, access and authentication rather than only creating an account.</a:t>
            </a:r>
          </a:p>
        </p:txBody>
      </p:sp>
      <p:sp>
        <p:nvSpPr>
          <p:cNvPr id="10" name="TextBox 9"/>
          <p:cNvSpPr txBox="1"/>
          <p:nvPr/>
        </p:nvSpPr>
        <p:spPr>
          <a:xfrm>
            <a:off x="987552" y="3310128"/>
            <a:ext cx="1828800" cy="274320"/>
          </a:xfrm>
          <a:prstGeom prst="rect">
            <a:avLst/>
          </a:prstGeom>
          <a:noFill/>
        </p:spPr>
        <p:txBody>
          <a:bodyPr wrap="square">
            <a:spAutoFit/>
          </a:bodyPr>
          <a:lstStyle/>
          <a:p>
            <a:pPr algn="l">
              <a:defRPr sz="1500" b="1">
                <a:solidFill>
                  <a:srgbClr val="2B68A8"/>
                </a:solidFill>
                <a:latin typeface="Aptos"/>
              </a:defRPr>
            </a:pPr>
            <a:r>
              <a:t>Main steps</a:t>
            </a:r>
          </a:p>
        </p:txBody>
      </p:sp>
      <p:sp>
        <p:nvSpPr>
          <p:cNvPr id="11" name="TextBox 10"/>
          <p:cNvSpPr txBox="1"/>
          <p:nvPr/>
        </p:nvSpPr>
        <p:spPr>
          <a:xfrm>
            <a:off x="987552" y="3675887"/>
            <a:ext cx="4297680" cy="1691640"/>
          </a:xfrm>
          <a:prstGeom prst="rect">
            <a:avLst/>
          </a:prstGeom>
          <a:noFill/>
        </p:spPr>
        <p:txBody>
          <a:bodyPr wrap="square">
            <a:spAutoFit/>
          </a:bodyPr>
          <a:lstStyle/>
          <a:p>
            <a:pPr>
              <a:spcAft>
                <a:spcPts val="600"/>
              </a:spcAft>
              <a:defRPr sz="1210">
                <a:solidFill>
                  <a:srgbClr val="303B48"/>
                </a:solidFill>
                <a:latin typeface="Aptos"/>
              </a:defRPr>
            </a:pPr>
            <a:r>
              <a:t>• Create / use GitHub account</a:t>
            </a:r>
          </a:p>
          <a:p>
            <a:pPr>
              <a:spcAft>
                <a:spcPts val="600"/>
              </a:spcAft>
              <a:defRPr sz="1210">
                <a:solidFill>
                  <a:srgbClr val="303B48"/>
                </a:solidFill>
                <a:latin typeface="Aptos"/>
              </a:defRPr>
            </a:pPr>
            <a:r>
              <a:t>• Install and configure Visual Studio Code</a:t>
            </a:r>
          </a:p>
          <a:p>
            <a:pPr>
              <a:spcAft>
                <a:spcPts val="600"/>
              </a:spcAft>
              <a:defRPr sz="1210">
                <a:solidFill>
                  <a:srgbClr val="303B48"/>
                </a:solidFill>
                <a:latin typeface="Aptos"/>
              </a:defRPr>
            </a:pPr>
            <a:r>
              <a:t>• Create an Azure free account</a:t>
            </a:r>
          </a:p>
          <a:p>
            <a:pPr>
              <a:spcAft>
                <a:spcPts val="600"/>
              </a:spcAft>
              <a:defRPr sz="1210">
                <a:solidFill>
                  <a:srgbClr val="303B48"/>
                </a:solidFill>
                <a:latin typeface="Aptos"/>
              </a:defRPr>
            </a:pPr>
            <a:r>
              <a:t>• Register the application with Microsoft Entra ID</a:t>
            </a:r>
          </a:p>
          <a:p>
            <a:pPr>
              <a:spcAft>
                <a:spcPts val="600"/>
              </a:spcAft>
              <a:defRPr sz="1210">
                <a:solidFill>
                  <a:srgbClr val="303B48"/>
                </a:solidFill>
                <a:latin typeface="Aptos"/>
              </a:defRPr>
            </a:pPr>
            <a:r>
              <a:t>• Review permissions, client ID and authentication</a:t>
            </a:r>
          </a:p>
        </p:txBody>
      </p:sp>
      <p:sp>
        <p:nvSpPr>
          <p:cNvPr id="12" name="Rounded Rectangle 11"/>
          <p:cNvSpPr/>
          <p:nvPr/>
        </p:nvSpPr>
        <p:spPr>
          <a:xfrm>
            <a:off x="6016752" y="1389888"/>
            <a:ext cx="5285232" cy="44805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673352"/>
            <a:ext cx="2926080" cy="274320"/>
          </a:xfrm>
          <a:prstGeom prst="rect">
            <a:avLst/>
          </a:prstGeom>
          <a:noFill/>
        </p:spPr>
        <p:txBody>
          <a:bodyPr wrap="square">
            <a:spAutoFit/>
          </a:bodyPr>
          <a:lstStyle/>
          <a:p>
            <a:pPr algn="l">
              <a:defRPr sz="1600" b="1">
                <a:solidFill>
                  <a:srgbClr val="182F49"/>
                </a:solidFill>
                <a:latin typeface="Aptos"/>
              </a:defRPr>
            </a:pPr>
            <a:r>
              <a:t>What I learned from it</a:t>
            </a:r>
          </a:p>
        </p:txBody>
      </p:sp>
      <p:sp>
        <p:nvSpPr>
          <p:cNvPr id="14" name="Rounded Rectangle 13"/>
          <p:cNvSpPr/>
          <p:nvPr/>
        </p:nvSpPr>
        <p:spPr>
          <a:xfrm>
            <a:off x="6309360" y="2212848"/>
            <a:ext cx="4617720" cy="77724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92240" y="2368296"/>
            <a:ext cx="438912" cy="438912"/>
          </a:xfrm>
          <a:prstGeom prst="round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478024"/>
            <a:ext cx="438912" cy="146304"/>
          </a:xfrm>
          <a:prstGeom prst="rect">
            <a:avLst/>
          </a:prstGeom>
          <a:noFill/>
        </p:spPr>
        <p:txBody>
          <a:bodyPr wrap="square">
            <a:spAutoFit/>
          </a:bodyPr>
          <a:lstStyle/>
          <a:p>
            <a:pPr algn="ctr">
              <a:defRPr sz="900" b="1">
                <a:solidFill>
                  <a:srgbClr val="FFFFFF"/>
                </a:solidFill>
                <a:latin typeface="Aptos"/>
              </a:defRPr>
            </a:pPr>
            <a:r>
              <a:t>1</a:t>
            </a:r>
          </a:p>
        </p:txBody>
      </p:sp>
      <p:sp>
        <p:nvSpPr>
          <p:cNvPr id="17" name="TextBox 16"/>
          <p:cNvSpPr txBox="1"/>
          <p:nvPr/>
        </p:nvSpPr>
        <p:spPr>
          <a:xfrm>
            <a:off x="7114032" y="2322576"/>
            <a:ext cx="1325880" cy="228600"/>
          </a:xfrm>
          <a:prstGeom prst="rect">
            <a:avLst/>
          </a:prstGeom>
          <a:noFill/>
        </p:spPr>
        <p:txBody>
          <a:bodyPr wrap="square">
            <a:spAutoFit/>
          </a:bodyPr>
          <a:lstStyle/>
          <a:p>
            <a:pPr algn="l">
              <a:defRPr sz="1300" b="1">
                <a:solidFill>
                  <a:srgbClr val="182F49"/>
                </a:solidFill>
                <a:latin typeface="Aptos"/>
              </a:defRPr>
            </a:pPr>
            <a:r>
              <a:t>Identity</a:t>
            </a:r>
          </a:p>
        </p:txBody>
      </p:sp>
      <p:sp>
        <p:nvSpPr>
          <p:cNvPr id="18" name="TextBox 17"/>
          <p:cNvSpPr txBox="1"/>
          <p:nvPr/>
        </p:nvSpPr>
        <p:spPr>
          <a:xfrm>
            <a:off x="8394192" y="2313432"/>
            <a:ext cx="2240280" cy="411480"/>
          </a:xfrm>
          <a:prstGeom prst="rect">
            <a:avLst/>
          </a:prstGeom>
          <a:noFill/>
        </p:spPr>
        <p:txBody>
          <a:bodyPr wrap="square">
            <a:spAutoFit/>
          </a:bodyPr>
          <a:lstStyle/>
          <a:p>
            <a:pPr algn="l">
              <a:defRPr sz="1120" b="0">
                <a:solidFill>
                  <a:srgbClr val="687380"/>
                </a:solidFill>
                <a:latin typeface="Aptos"/>
              </a:defRPr>
            </a:pPr>
            <a:r>
              <a:t>The application needs an identity in the cloud.</a:t>
            </a:r>
          </a:p>
        </p:txBody>
      </p:sp>
      <p:sp>
        <p:nvSpPr>
          <p:cNvPr id="19" name="Rounded Rectangle 18"/>
          <p:cNvSpPr/>
          <p:nvPr/>
        </p:nvSpPr>
        <p:spPr>
          <a:xfrm>
            <a:off x="6309360" y="3218688"/>
            <a:ext cx="4617720" cy="77724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92240" y="3374136"/>
            <a:ext cx="438912" cy="438912"/>
          </a:xfrm>
          <a:prstGeom prst="roundRect">
            <a:avLst/>
          </a:prstGeom>
          <a:solidFill>
            <a:srgbClr val="3D7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483864"/>
            <a:ext cx="438912" cy="146304"/>
          </a:xfrm>
          <a:prstGeom prst="rect">
            <a:avLst/>
          </a:prstGeom>
          <a:noFill/>
        </p:spPr>
        <p:txBody>
          <a:bodyPr wrap="square">
            <a:spAutoFit/>
          </a:bodyPr>
          <a:lstStyle/>
          <a:p>
            <a:pPr algn="ctr">
              <a:defRPr sz="900" b="1">
                <a:solidFill>
                  <a:srgbClr val="FFFFFF"/>
                </a:solidFill>
                <a:latin typeface="Aptos"/>
              </a:defRPr>
            </a:pPr>
            <a:r>
              <a:t>2</a:t>
            </a:r>
          </a:p>
        </p:txBody>
      </p:sp>
      <p:sp>
        <p:nvSpPr>
          <p:cNvPr id="22" name="TextBox 21"/>
          <p:cNvSpPr txBox="1"/>
          <p:nvPr/>
        </p:nvSpPr>
        <p:spPr>
          <a:xfrm>
            <a:off x="7114032" y="3328416"/>
            <a:ext cx="1325880" cy="228600"/>
          </a:xfrm>
          <a:prstGeom prst="rect">
            <a:avLst/>
          </a:prstGeom>
          <a:noFill/>
        </p:spPr>
        <p:txBody>
          <a:bodyPr wrap="square">
            <a:spAutoFit/>
          </a:bodyPr>
          <a:lstStyle/>
          <a:p>
            <a:pPr algn="l">
              <a:defRPr sz="1300" b="1">
                <a:solidFill>
                  <a:srgbClr val="182F49"/>
                </a:solidFill>
                <a:latin typeface="Aptos"/>
              </a:defRPr>
            </a:pPr>
            <a:r>
              <a:t>Permissions</a:t>
            </a:r>
          </a:p>
        </p:txBody>
      </p:sp>
      <p:sp>
        <p:nvSpPr>
          <p:cNvPr id="23" name="TextBox 22"/>
          <p:cNvSpPr txBox="1"/>
          <p:nvPr/>
        </p:nvSpPr>
        <p:spPr>
          <a:xfrm>
            <a:off x="8394192" y="3319272"/>
            <a:ext cx="2240280" cy="411480"/>
          </a:xfrm>
          <a:prstGeom prst="rect">
            <a:avLst/>
          </a:prstGeom>
          <a:noFill/>
        </p:spPr>
        <p:txBody>
          <a:bodyPr wrap="square">
            <a:spAutoFit/>
          </a:bodyPr>
          <a:lstStyle/>
          <a:p>
            <a:pPr algn="l">
              <a:defRPr sz="1120" b="0">
                <a:solidFill>
                  <a:srgbClr val="687380"/>
                </a:solidFill>
                <a:latin typeface="Aptos"/>
              </a:defRPr>
            </a:pPr>
            <a:r>
              <a:t>Access can be limited to the resources it needs.</a:t>
            </a:r>
          </a:p>
        </p:txBody>
      </p:sp>
      <p:sp>
        <p:nvSpPr>
          <p:cNvPr id="24" name="Rounded Rectangle 23"/>
          <p:cNvSpPr/>
          <p:nvPr/>
        </p:nvSpPr>
        <p:spPr>
          <a:xfrm>
            <a:off x="6309360" y="4224528"/>
            <a:ext cx="4617720" cy="77724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92240" y="4379976"/>
            <a:ext cx="438912" cy="438912"/>
          </a:xfrm>
          <a:prstGeom prst="roundRect">
            <a:avLst/>
          </a:prstGeom>
          <a:solidFill>
            <a:srgbClr val="D87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489704"/>
            <a:ext cx="438912" cy="146304"/>
          </a:xfrm>
          <a:prstGeom prst="rect">
            <a:avLst/>
          </a:prstGeom>
          <a:noFill/>
        </p:spPr>
        <p:txBody>
          <a:bodyPr wrap="square">
            <a:spAutoFit/>
          </a:bodyPr>
          <a:lstStyle/>
          <a:p>
            <a:pPr algn="ctr">
              <a:defRPr sz="900" b="1">
                <a:solidFill>
                  <a:srgbClr val="FFFFFF"/>
                </a:solidFill>
                <a:latin typeface="Aptos"/>
              </a:defRPr>
            </a:pPr>
            <a:r>
              <a:t>3</a:t>
            </a:r>
          </a:p>
        </p:txBody>
      </p:sp>
      <p:sp>
        <p:nvSpPr>
          <p:cNvPr id="27" name="TextBox 26"/>
          <p:cNvSpPr txBox="1"/>
          <p:nvPr/>
        </p:nvSpPr>
        <p:spPr>
          <a:xfrm>
            <a:off x="7114032" y="4334256"/>
            <a:ext cx="1325880" cy="228600"/>
          </a:xfrm>
          <a:prstGeom prst="rect">
            <a:avLst/>
          </a:prstGeom>
          <a:noFill/>
        </p:spPr>
        <p:txBody>
          <a:bodyPr wrap="square">
            <a:spAutoFit/>
          </a:bodyPr>
          <a:lstStyle/>
          <a:p>
            <a:pPr algn="l">
              <a:defRPr sz="1300" b="1">
                <a:solidFill>
                  <a:srgbClr val="182F49"/>
                </a:solidFill>
                <a:latin typeface="Aptos"/>
              </a:defRPr>
            </a:pPr>
            <a:r>
              <a:t>Authentication</a:t>
            </a:r>
          </a:p>
        </p:txBody>
      </p:sp>
      <p:sp>
        <p:nvSpPr>
          <p:cNvPr id="28" name="TextBox 27"/>
          <p:cNvSpPr txBox="1"/>
          <p:nvPr/>
        </p:nvSpPr>
        <p:spPr>
          <a:xfrm>
            <a:off x="8394192" y="4325112"/>
            <a:ext cx="2240280" cy="411480"/>
          </a:xfrm>
          <a:prstGeom prst="rect">
            <a:avLst/>
          </a:prstGeom>
          <a:noFill/>
        </p:spPr>
        <p:txBody>
          <a:bodyPr wrap="square">
            <a:spAutoFit/>
          </a:bodyPr>
          <a:lstStyle/>
          <a:p>
            <a:pPr algn="l">
              <a:defRPr sz="1120" b="0">
                <a:solidFill>
                  <a:srgbClr val="687380"/>
                </a:solidFill>
                <a:latin typeface="Aptos"/>
              </a:defRPr>
            </a:pPr>
            <a:r>
              <a:t>Authentication helps control how the application connects.</a:t>
            </a:r>
          </a:p>
        </p:txBody>
      </p:sp>
      <p:sp>
        <p:nvSpPr>
          <p:cNvPr id="29" name="TextBox 28"/>
          <p:cNvSpPr txBox="1"/>
          <p:nvPr/>
        </p:nvSpPr>
        <p:spPr>
          <a:xfrm>
            <a:off x="6309360" y="5321808"/>
            <a:ext cx="4434840" cy="274320"/>
          </a:xfrm>
          <a:prstGeom prst="rect">
            <a:avLst/>
          </a:prstGeom>
          <a:noFill/>
        </p:spPr>
        <p:txBody>
          <a:bodyPr wrap="square">
            <a:spAutoFit/>
          </a:bodyPr>
          <a:lstStyle/>
          <a:p>
            <a:pPr algn="l">
              <a:defRPr sz="1150" b="1">
                <a:solidFill>
                  <a:srgbClr val="2B68A8"/>
                </a:solidFill>
                <a:latin typeface="Aptos"/>
              </a:defRPr>
            </a:pPr>
            <a:r>
              <a:t>This task made the idea of cloud access much more concrete for me.</a:t>
            </a:r>
          </a:p>
        </p:txBody>
      </p:sp>
      <p:sp>
        <p:nvSpPr>
          <p:cNvPr id="30" name="TextBox 29"/>
          <p:cNvSpPr txBox="1"/>
          <p:nvPr/>
        </p:nvSpPr>
        <p:spPr>
          <a:xfrm>
            <a:off x="640080" y="6455664"/>
            <a:ext cx="10789920" cy="182880"/>
          </a:xfrm>
          <a:prstGeom prst="rect">
            <a:avLst/>
          </a:prstGeom>
          <a:noFill/>
        </p:spPr>
        <p:txBody>
          <a:bodyPr wrap="square">
            <a:spAutoFit/>
          </a:bodyPr>
          <a:lstStyle/>
          <a:p>
            <a:pPr algn="l">
              <a:defRPr sz="900" b="0">
                <a:solidFill>
                  <a:srgbClr val="687380"/>
                </a:solidFill>
                <a:latin typeface="Aptos"/>
              </a:defRPr>
            </a:pPr>
            <a:r>
              <a:t>3  |  Naveen Kumar  •  CS-23411631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365760" cy="228600"/>
          </a:xfrm>
          <a:prstGeom prst="rect">
            <a:avLst/>
          </a:prstGeom>
          <a:noFill/>
        </p:spPr>
        <p:txBody>
          <a:bodyPr wrap="square">
            <a:spAutoFit/>
          </a:bodyPr>
          <a:lstStyle/>
          <a:p>
            <a:pPr algn="l">
              <a:defRPr sz="1100" b="1">
                <a:solidFill>
                  <a:srgbClr val="2B68A8"/>
                </a:solidFill>
                <a:latin typeface="Aptos"/>
              </a:defRPr>
            </a:pPr>
            <a:r>
              <a:t>04</a:t>
            </a:r>
          </a:p>
        </p:txBody>
      </p:sp>
      <p:sp>
        <p:nvSpPr>
          <p:cNvPr id="4" name="TextBox 3"/>
          <p:cNvSpPr txBox="1"/>
          <p:nvPr/>
        </p:nvSpPr>
        <p:spPr>
          <a:xfrm>
            <a:off x="1143000" y="246888"/>
            <a:ext cx="10241280" cy="411480"/>
          </a:xfrm>
          <a:prstGeom prst="rect">
            <a:avLst/>
          </a:prstGeom>
          <a:noFill/>
        </p:spPr>
        <p:txBody>
          <a:bodyPr wrap="square">
            <a:spAutoFit/>
          </a:bodyPr>
          <a:lstStyle/>
          <a:p>
            <a:pPr algn="l">
              <a:defRPr sz="2500" b="1">
                <a:solidFill>
                  <a:srgbClr val="182F49"/>
                </a:solidFill>
                <a:latin typeface="Aptos"/>
              </a:defRPr>
            </a:pPr>
            <a:r>
              <a:t>Task 2 — Create a GitHub Actions Workflow</a:t>
            </a:r>
          </a:p>
        </p:txBody>
      </p:sp>
      <p:sp>
        <p:nvSpPr>
          <p:cNvPr id="5" name="TextBox 4"/>
          <p:cNvSpPr txBox="1"/>
          <p:nvPr/>
        </p:nvSpPr>
        <p:spPr>
          <a:xfrm>
            <a:off x="1161288" y="749808"/>
            <a:ext cx="10058400" cy="274320"/>
          </a:xfrm>
          <a:prstGeom prst="rect">
            <a:avLst/>
          </a:prstGeom>
          <a:noFill/>
        </p:spPr>
        <p:txBody>
          <a:bodyPr wrap="square">
            <a:spAutoFit/>
          </a:bodyPr>
          <a:lstStyle/>
          <a:p>
            <a:pPr algn="l">
              <a:defRPr sz="1250" b="0">
                <a:solidFill>
                  <a:srgbClr val="687380"/>
                </a:solidFill>
                <a:latin typeface="Aptos"/>
              </a:defRPr>
            </a:pPr>
            <a:r>
              <a:t>From a repository to a simple automated workflow</a:t>
            </a:r>
          </a:p>
        </p:txBody>
      </p:sp>
      <p:sp>
        <p:nvSpPr>
          <p:cNvPr id="6" name="Rectangle 5"/>
          <p:cNvSpPr/>
          <p:nvPr/>
        </p:nvSpPr>
        <p:spPr>
          <a:xfrm>
            <a:off x="640080" y="1133856"/>
            <a:ext cx="10881360" cy="13716"/>
          </a:xfrm>
          <a:prstGeom prst="rect">
            <a:avLst/>
          </a:prstGeom>
          <a:solidFill>
            <a:srgbClr val="D3D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1389888"/>
            <a:ext cx="6492240" cy="452628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673352"/>
            <a:ext cx="1828800" cy="274320"/>
          </a:xfrm>
          <a:prstGeom prst="rect">
            <a:avLst/>
          </a:prstGeom>
          <a:noFill/>
        </p:spPr>
        <p:txBody>
          <a:bodyPr wrap="square">
            <a:spAutoFit/>
          </a:bodyPr>
          <a:lstStyle/>
          <a:p>
            <a:pPr algn="l">
              <a:defRPr sz="1600" b="1">
                <a:solidFill>
                  <a:srgbClr val="182F49"/>
                </a:solidFill>
                <a:latin typeface="Aptos"/>
              </a:defRPr>
            </a:pPr>
            <a:r>
              <a:t>The brief</a:t>
            </a:r>
          </a:p>
        </p:txBody>
      </p:sp>
      <p:sp>
        <p:nvSpPr>
          <p:cNvPr id="9" name="TextBox 8"/>
          <p:cNvSpPr txBox="1"/>
          <p:nvPr/>
        </p:nvSpPr>
        <p:spPr>
          <a:xfrm>
            <a:off x="987552" y="2084831"/>
            <a:ext cx="5806440" cy="914400"/>
          </a:xfrm>
          <a:prstGeom prst="rect">
            <a:avLst/>
          </a:prstGeom>
          <a:noFill/>
        </p:spPr>
        <p:txBody>
          <a:bodyPr wrap="square">
            <a:spAutoFit/>
          </a:bodyPr>
          <a:lstStyle/>
          <a:p>
            <a:pPr algn="l">
              <a:defRPr sz="1300" b="0">
                <a:solidFill>
                  <a:srgbClr val="687380"/>
                </a:solidFill>
                <a:latin typeface="Aptos"/>
              </a:defRPr>
            </a:pPr>
            <a:r>
              <a:t>The second task introduced GitHub as a DevOps tool. I created a repository, worked with it locally, understood variables and then created a GitHub Actions workflow using YAML.</a:t>
            </a:r>
          </a:p>
        </p:txBody>
      </p:sp>
      <p:sp>
        <p:nvSpPr>
          <p:cNvPr id="10" name="TextBox 9"/>
          <p:cNvSpPr txBox="1"/>
          <p:nvPr/>
        </p:nvSpPr>
        <p:spPr>
          <a:xfrm>
            <a:off x="987552" y="3246120"/>
            <a:ext cx="1828800" cy="274320"/>
          </a:xfrm>
          <a:prstGeom prst="rect">
            <a:avLst/>
          </a:prstGeom>
          <a:noFill/>
        </p:spPr>
        <p:txBody>
          <a:bodyPr wrap="square">
            <a:spAutoFit/>
          </a:bodyPr>
          <a:lstStyle/>
          <a:p>
            <a:pPr algn="l">
              <a:defRPr sz="1500" b="1">
                <a:solidFill>
                  <a:srgbClr val="2B68A8"/>
                </a:solidFill>
                <a:latin typeface="Aptos"/>
              </a:defRPr>
            </a:pPr>
            <a:r>
              <a:t>Workflow</a:t>
            </a:r>
          </a:p>
        </p:txBody>
      </p:sp>
      <p:sp>
        <p:nvSpPr>
          <p:cNvPr id="11" name="Rounded Rectangle 10"/>
          <p:cNvSpPr/>
          <p:nvPr/>
        </p:nvSpPr>
        <p:spPr>
          <a:xfrm>
            <a:off x="987552" y="3657600"/>
            <a:ext cx="2606040" cy="749808"/>
          </a:xfrm>
          <a:prstGeom prst="roundRect">
            <a:avLst/>
          </a:prstGeom>
          <a:solidFill>
            <a:srgbClr val="F8FAFC"/>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822191"/>
            <a:ext cx="384048" cy="164592"/>
          </a:xfrm>
          <a:prstGeom prst="rect">
            <a:avLst/>
          </a:prstGeom>
          <a:noFill/>
        </p:spPr>
        <p:txBody>
          <a:bodyPr wrap="square">
            <a:spAutoFit/>
          </a:bodyPr>
          <a:lstStyle/>
          <a:p>
            <a:pPr algn="l">
              <a:defRPr sz="900" b="1">
                <a:solidFill>
                  <a:srgbClr val="2B68A8"/>
                </a:solidFill>
                <a:latin typeface="Aptos"/>
              </a:defRPr>
            </a:pPr>
            <a:r>
              <a:t>01</a:t>
            </a:r>
          </a:p>
        </p:txBody>
      </p:sp>
      <p:sp>
        <p:nvSpPr>
          <p:cNvPr id="13" name="TextBox 12"/>
          <p:cNvSpPr txBox="1"/>
          <p:nvPr/>
        </p:nvSpPr>
        <p:spPr>
          <a:xfrm>
            <a:off x="1581912" y="3749039"/>
            <a:ext cx="1645920" cy="210312"/>
          </a:xfrm>
          <a:prstGeom prst="rect">
            <a:avLst/>
          </a:prstGeom>
          <a:noFill/>
        </p:spPr>
        <p:txBody>
          <a:bodyPr wrap="square">
            <a:spAutoFit/>
          </a:bodyPr>
          <a:lstStyle/>
          <a:p>
            <a:pPr algn="l">
              <a:defRPr sz="1250" b="1">
                <a:solidFill>
                  <a:srgbClr val="182F49"/>
                </a:solidFill>
                <a:latin typeface="Aptos"/>
              </a:defRPr>
            </a:pPr>
            <a:r>
              <a:t>Repository</a:t>
            </a:r>
          </a:p>
        </p:txBody>
      </p:sp>
      <p:sp>
        <p:nvSpPr>
          <p:cNvPr id="14" name="TextBox 13"/>
          <p:cNvSpPr txBox="1"/>
          <p:nvPr/>
        </p:nvSpPr>
        <p:spPr>
          <a:xfrm>
            <a:off x="1581912" y="4014215"/>
            <a:ext cx="1691640" cy="246888"/>
          </a:xfrm>
          <a:prstGeom prst="rect">
            <a:avLst/>
          </a:prstGeom>
          <a:noFill/>
        </p:spPr>
        <p:txBody>
          <a:bodyPr wrap="square">
            <a:spAutoFit/>
          </a:bodyPr>
          <a:lstStyle/>
          <a:p>
            <a:pPr algn="l">
              <a:defRPr sz="980" b="0">
                <a:solidFill>
                  <a:srgbClr val="687380"/>
                </a:solidFill>
                <a:latin typeface="Aptos"/>
              </a:defRPr>
            </a:pPr>
            <a:r>
              <a:t>Create a new GitHub repository.</a:t>
            </a:r>
          </a:p>
        </p:txBody>
      </p:sp>
      <p:sp>
        <p:nvSpPr>
          <p:cNvPr id="15" name="Rounded Rectangle 14"/>
          <p:cNvSpPr/>
          <p:nvPr/>
        </p:nvSpPr>
        <p:spPr>
          <a:xfrm>
            <a:off x="3867912" y="3657600"/>
            <a:ext cx="2606040" cy="749808"/>
          </a:xfrm>
          <a:prstGeom prst="roundRect">
            <a:avLst/>
          </a:prstGeom>
          <a:solidFill>
            <a:srgbClr val="F8FAFC"/>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7640" y="3822191"/>
            <a:ext cx="384048" cy="164592"/>
          </a:xfrm>
          <a:prstGeom prst="rect">
            <a:avLst/>
          </a:prstGeom>
          <a:noFill/>
        </p:spPr>
        <p:txBody>
          <a:bodyPr wrap="square">
            <a:spAutoFit/>
          </a:bodyPr>
          <a:lstStyle/>
          <a:p>
            <a:pPr algn="l">
              <a:defRPr sz="900" b="1">
                <a:solidFill>
                  <a:srgbClr val="2B68A8"/>
                </a:solidFill>
                <a:latin typeface="Aptos"/>
              </a:defRPr>
            </a:pPr>
            <a:r>
              <a:t>02</a:t>
            </a:r>
          </a:p>
        </p:txBody>
      </p:sp>
      <p:sp>
        <p:nvSpPr>
          <p:cNvPr id="17" name="TextBox 16"/>
          <p:cNvSpPr txBox="1"/>
          <p:nvPr/>
        </p:nvSpPr>
        <p:spPr>
          <a:xfrm>
            <a:off x="4462272" y="3749039"/>
            <a:ext cx="1645920" cy="210312"/>
          </a:xfrm>
          <a:prstGeom prst="rect">
            <a:avLst/>
          </a:prstGeom>
          <a:noFill/>
        </p:spPr>
        <p:txBody>
          <a:bodyPr wrap="square">
            <a:spAutoFit/>
          </a:bodyPr>
          <a:lstStyle/>
          <a:p>
            <a:pPr algn="l">
              <a:defRPr sz="1250" b="1">
                <a:solidFill>
                  <a:srgbClr val="182F49"/>
                </a:solidFill>
                <a:latin typeface="Aptos"/>
              </a:defRPr>
            </a:pPr>
            <a:r>
              <a:t>Git</a:t>
            </a:r>
          </a:p>
        </p:txBody>
      </p:sp>
      <p:sp>
        <p:nvSpPr>
          <p:cNvPr id="18" name="TextBox 17"/>
          <p:cNvSpPr txBox="1"/>
          <p:nvPr/>
        </p:nvSpPr>
        <p:spPr>
          <a:xfrm>
            <a:off x="4462272" y="4014215"/>
            <a:ext cx="1691640" cy="246888"/>
          </a:xfrm>
          <a:prstGeom prst="rect">
            <a:avLst/>
          </a:prstGeom>
          <a:noFill/>
        </p:spPr>
        <p:txBody>
          <a:bodyPr wrap="square">
            <a:spAutoFit/>
          </a:bodyPr>
          <a:lstStyle/>
          <a:p>
            <a:pPr algn="l">
              <a:defRPr sz="980" b="0">
                <a:solidFill>
                  <a:srgbClr val="687380"/>
                </a:solidFill>
                <a:latin typeface="Aptos"/>
              </a:defRPr>
            </a:pPr>
            <a:r>
              <a:t>Clone the repository to the local machine.</a:t>
            </a:r>
          </a:p>
        </p:txBody>
      </p:sp>
      <p:sp>
        <p:nvSpPr>
          <p:cNvPr id="19" name="Rounded Rectangle 18"/>
          <p:cNvSpPr/>
          <p:nvPr/>
        </p:nvSpPr>
        <p:spPr>
          <a:xfrm>
            <a:off x="987552" y="4617720"/>
            <a:ext cx="2606040" cy="749808"/>
          </a:xfrm>
          <a:prstGeom prst="roundRect">
            <a:avLst/>
          </a:prstGeom>
          <a:solidFill>
            <a:srgbClr val="F8FAFC"/>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782312"/>
            <a:ext cx="384048" cy="164592"/>
          </a:xfrm>
          <a:prstGeom prst="rect">
            <a:avLst/>
          </a:prstGeom>
          <a:noFill/>
        </p:spPr>
        <p:txBody>
          <a:bodyPr wrap="square">
            <a:spAutoFit/>
          </a:bodyPr>
          <a:lstStyle/>
          <a:p>
            <a:pPr algn="l">
              <a:defRPr sz="900" b="1">
                <a:solidFill>
                  <a:srgbClr val="2B68A8"/>
                </a:solidFill>
                <a:latin typeface="Aptos"/>
              </a:defRPr>
            </a:pPr>
            <a:r>
              <a:t>03</a:t>
            </a:r>
          </a:p>
        </p:txBody>
      </p:sp>
      <p:sp>
        <p:nvSpPr>
          <p:cNvPr id="21" name="TextBox 20"/>
          <p:cNvSpPr txBox="1"/>
          <p:nvPr/>
        </p:nvSpPr>
        <p:spPr>
          <a:xfrm>
            <a:off x="1581912" y="4709159"/>
            <a:ext cx="1645920" cy="210312"/>
          </a:xfrm>
          <a:prstGeom prst="rect">
            <a:avLst/>
          </a:prstGeom>
          <a:noFill/>
        </p:spPr>
        <p:txBody>
          <a:bodyPr wrap="square">
            <a:spAutoFit/>
          </a:bodyPr>
          <a:lstStyle/>
          <a:p>
            <a:pPr algn="l">
              <a:defRPr sz="1250" b="1">
                <a:solidFill>
                  <a:srgbClr val="182F49"/>
                </a:solidFill>
                <a:latin typeface="Aptos"/>
              </a:defRPr>
            </a:pPr>
            <a:r>
              <a:t>Variables</a:t>
            </a:r>
          </a:p>
        </p:txBody>
      </p:sp>
      <p:sp>
        <p:nvSpPr>
          <p:cNvPr id="22" name="TextBox 21"/>
          <p:cNvSpPr txBox="1"/>
          <p:nvPr/>
        </p:nvSpPr>
        <p:spPr>
          <a:xfrm>
            <a:off x="1581912" y="4974336"/>
            <a:ext cx="1691640" cy="246888"/>
          </a:xfrm>
          <a:prstGeom prst="rect">
            <a:avLst/>
          </a:prstGeom>
          <a:noFill/>
        </p:spPr>
        <p:txBody>
          <a:bodyPr wrap="square">
            <a:spAutoFit/>
          </a:bodyPr>
          <a:lstStyle/>
          <a:p>
            <a:pPr algn="l">
              <a:defRPr sz="980" b="0">
                <a:solidFill>
                  <a:srgbClr val="687380"/>
                </a:solidFill>
                <a:latin typeface="Aptos"/>
              </a:defRPr>
            </a:pPr>
            <a:r>
              <a:t>Understand values used by the workflow.</a:t>
            </a:r>
          </a:p>
        </p:txBody>
      </p:sp>
      <p:sp>
        <p:nvSpPr>
          <p:cNvPr id="23" name="Rounded Rectangle 22"/>
          <p:cNvSpPr/>
          <p:nvPr/>
        </p:nvSpPr>
        <p:spPr>
          <a:xfrm>
            <a:off x="3867912" y="4617720"/>
            <a:ext cx="2606040" cy="749808"/>
          </a:xfrm>
          <a:prstGeom prst="roundRect">
            <a:avLst/>
          </a:prstGeom>
          <a:solidFill>
            <a:srgbClr val="F8FAFC"/>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77640" y="4782312"/>
            <a:ext cx="384048" cy="164592"/>
          </a:xfrm>
          <a:prstGeom prst="rect">
            <a:avLst/>
          </a:prstGeom>
          <a:noFill/>
        </p:spPr>
        <p:txBody>
          <a:bodyPr wrap="square">
            <a:spAutoFit/>
          </a:bodyPr>
          <a:lstStyle/>
          <a:p>
            <a:pPr algn="l">
              <a:defRPr sz="900" b="1">
                <a:solidFill>
                  <a:srgbClr val="2B68A8"/>
                </a:solidFill>
                <a:latin typeface="Aptos"/>
              </a:defRPr>
            </a:pPr>
            <a:r>
              <a:t>04</a:t>
            </a:r>
          </a:p>
        </p:txBody>
      </p:sp>
      <p:sp>
        <p:nvSpPr>
          <p:cNvPr id="25" name="TextBox 24"/>
          <p:cNvSpPr txBox="1"/>
          <p:nvPr/>
        </p:nvSpPr>
        <p:spPr>
          <a:xfrm>
            <a:off x="4462272" y="4709159"/>
            <a:ext cx="1645920" cy="210312"/>
          </a:xfrm>
          <a:prstGeom prst="rect">
            <a:avLst/>
          </a:prstGeom>
          <a:noFill/>
        </p:spPr>
        <p:txBody>
          <a:bodyPr wrap="square">
            <a:spAutoFit/>
          </a:bodyPr>
          <a:lstStyle/>
          <a:p>
            <a:pPr algn="l">
              <a:defRPr sz="1250" b="1">
                <a:solidFill>
                  <a:srgbClr val="182F49"/>
                </a:solidFill>
                <a:latin typeface="Aptos"/>
              </a:defRPr>
            </a:pPr>
            <a:r>
              <a:t>Actions</a:t>
            </a:r>
          </a:p>
        </p:txBody>
      </p:sp>
      <p:sp>
        <p:nvSpPr>
          <p:cNvPr id="26" name="TextBox 25"/>
          <p:cNvSpPr txBox="1"/>
          <p:nvPr/>
        </p:nvSpPr>
        <p:spPr>
          <a:xfrm>
            <a:off x="4462272" y="4974336"/>
            <a:ext cx="1691640" cy="246888"/>
          </a:xfrm>
          <a:prstGeom prst="rect">
            <a:avLst/>
          </a:prstGeom>
          <a:noFill/>
        </p:spPr>
        <p:txBody>
          <a:bodyPr wrap="square">
            <a:spAutoFit/>
          </a:bodyPr>
          <a:lstStyle/>
          <a:p>
            <a:pPr algn="l">
              <a:defRPr sz="980" b="0">
                <a:solidFill>
                  <a:srgbClr val="687380"/>
                </a:solidFill>
                <a:latin typeface="Aptos"/>
              </a:defRPr>
            </a:pPr>
            <a:r>
              <a:t>Create the first YAML workflow.</a:t>
            </a:r>
          </a:p>
        </p:txBody>
      </p:sp>
      <p:sp>
        <p:nvSpPr>
          <p:cNvPr id="27" name="Rounded Rectangle 26"/>
          <p:cNvSpPr/>
          <p:nvPr/>
        </p:nvSpPr>
        <p:spPr>
          <a:xfrm>
            <a:off x="7452360" y="1389888"/>
            <a:ext cx="3849624" cy="452628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44968" y="1673352"/>
            <a:ext cx="2743200" cy="274320"/>
          </a:xfrm>
          <a:prstGeom prst="rect">
            <a:avLst/>
          </a:prstGeom>
          <a:noFill/>
        </p:spPr>
        <p:txBody>
          <a:bodyPr wrap="square">
            <a:spAutoFit/>
          </a:bodyPr>
          <a:lstStyle/>
          <a:p>
            <a:pPr algn="l">
              <a:defRPr sz="1600" b="1">
                <a:solidFill>
                  <a:srgbClr val="182F49"/>
                </a:solidFill>
                <a:latin typeface="Aptos"/>
              </a:defRPr>
            </a:pPr>
            <a:r>
              <a:t>Why it mattered</a:t>
            </a:r>
          </a:p>
        </p:txBody>
      </p:sp>
      <p:sp>
        <p:nvSpPr>
          <p:cNvPr id="29" name="TextBox 28"/>
          <p:cNvSpPr txBox="1"/>
          <p:nvPr/>
        </p:nvSpPr>
        <p:spPr>
          <a:xfrm>
            <a:off x="7744968" y="2103120"/>
            <a:ext cx="3246120" cy="1143000"/>
          </a:xfrm>
          <a:prstGeom prst="rect">
            <a:avLst/>
          </a:prstGeom>
          <a:noFill/>
        </p:spPr>
        <p:txBody>
          <a:bodyPr wrap="square">
            <a:spAutoFit/>
          </a:bodyPr>
          <a:lstStyle/>
          <a:p>
            <a:pPr algn="l">
              <a:defRPr sz="1300" b="0">
                <a:solidFill>
                  <a:srgbClr val="303B48"/>
                </a:solidFill>
                <a:latin typeface="Aptos"/>
              </a:defRPr>
            </a:pPr>
            <a:r>
              <a:t>The task showed me how version control and automation fit together. Instead of repeating development steps manually, a workflow can define them once and run them consistently.</a:t>
            </a:r>
          </a:p>
        </p:txBody>
      </p:sp>
      <p:sp>
        <p:nvSpPr>
          <p:cNvPr id="30" name="TextBox 29"/>
          <p:cNvSpPr txBox="1"/>
          <p:nvPr/>
        </p:nvSpPr>
        <p:spPr>
          <a:xfrm>
            <a:off x="7744968" y="3566160"/>
            <a:ext cx="1828800" cy="274320"/>
          </a:xfrm>
          <a:prstGeom prst="rect">
            <a:avLst/>
          </a:prstGeom>
          <a:noFill/>
        </p:spPr>
        <p:txBody>
          <a:bodyPr wrap="square">
            <a:spAutoFit/>
          </a:bodyPr>
          <a:lstStyle/>
          <a:p>
            <a:pPr algn="l">
              <a:defRPr sz="1500" b="1">
                <a:solidFill>
                  <a:srgbClr val="3D7F5E"/>
                </a:solidFill>
                <a:latin typeface="Aptos"/>
              </a:defRPr>
            </a:pPr>
            <a:r>
              <a:t>My takeaway</a:t>
            </a:r>
          </a:p>
        </p:txBody>
      </p:sp>
      <p:sp>
        <p:nvSpPr>
          <p:cNvPr id="31" name="TextBox 30"/>
          <p:cNvSpPr txBox="1"/>
          <p:nvPr/>
        </p:nvSpPr>
        <p:spPr>
          <a:xfrm>
            <a:off x="7744968" y="4005072"/>
            <a:ext cx="3108960" cy="274320"/>
          </a:xfrm>
          <a:prstGeom prst="rect">
            <a:avLst/>
          </a:prstGeom>
          <a:noFill/>
        </p:spPr>
        <p:txBody>
          <a:bodyPr wrap="square">
            <a:spAutoFit/>
          </a:bodyPr>
          <a:lstStyle/>
          <a:p>
            <a:pPr algn="ctr">
              <a:defRPr sz="1300" b="1">
                <a:solidFill>
                  <a:srgbClr val="182F49"/>
                </a:solidFill>
                <a:latin typeface="Aptos"/>
              </a:defRPr>
            </a:pPr>
            <a:r>
              <a:t>Repository → Workflow → Automation</a:t>
            </a:r>
          </a:p>
        </p:txBody>
      </p:sp>
      <p:sp>
        <p:nvSpPr>
          <p:cNvPr id="32" name="TextBox 31"/>
          <p:cNvSpPr txBox="1"/>
          <p:nvPr/>
        </p:nvSpPr>
        <p:spPr>
          <a:xfrm>
            <a:off x="7744968" y="4663440"/>
            <a:ext cx="3200400" cy="594360"/>
          </a:xfrm>
          <a:prstGeom prst="rect">
            <a:avLst/>
          </a:prstGeom>
          <a:noFill/>
        </p:spPr>
        <p:txBody>
          <a:bodyPr wrap="square">
            <a:spAutoFit/>
          </a:bodyPr>
          <a:lstStyle/>
          <a:p>
            <a:pPr algn="l">
              <a:defRPr sz="1200" b="0">
                <a:solidFill>
                  <a:srgbClr val="687380"/>
                </a:solidFill>
                <a:latin typeface="Aptos"/>
              </a:defRPr>
            </a:pPr>
            <a:r>
              <a:t>This was my first practical exposure to GitHub Actions and YAML-based automation.</a:t>
            </a:r>
          </a:p>
        </p:txBody>
      </p:sp>
      <p:sp>
        <p:nvSpPr>
          <p:cNvPr id="33" name="TextBox 32"/>
          <p:cNvSpPr txBox="1"/>
          <p:nvPr/>
        </p:nvSpPr>
        <p:spPr>
          <a:xfrm>
            <a:off x="640080" y="6455664"/>
            <a:ext cx="10789920" cy="182880"/>
          </a:xfrm>
          <a:prstGeom prst="rect">
            <a:avLst/>
          </a:prstGeom>
          <a:noFill/>
        </p:spPr>
        <p:txBody>
          <a:bodyPr wrap="square">
            <a:spAutoFit/>
          </a:bodyPr>
          <a:lstStyle/>
          <a:p>
            <a:pPr algn="l">
              <a:defRPr sz="900" b="0">
                <a:solidFill>
                  <a:srgbClr val="687380"/>
                </a:solidFill>
                <a:latin typeface="Aptos"/>
              </a:defRPr>
            </a:pPr>
            <a:r>
              <a:t>4  |  Naveen Kumar  •  CS-23411631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365760" cy="228600"/>
          </a:xfrm>
          <a:prstGeom prst="rect">
            <a:avLst/>
          </a:prstGeom>
          <a:noFill/>
        </p:spPr>
        <p:txBody>
          <a:bodyPr wrap="square">
            <a:spAutoFit/>
          </a:bodyPr>
          <a:lstStyle/>
          <a:p>
            <a:pPr algn="l">
              <a:defRPr sz="1100" b="1">
                <a:solidFill>
                  <a:srgbClr val="2B68A8"/>
                </a:solidFill>
                <a:latin typeface="Aptos"/>
              </a:defRPr>
            </a:pPr>
            <a:r>
              <a:t>05</a:t>
            </a:r>
          </a:p>
        </p:txBody>
      </p:sp>
      <p:sp>
        <p:nvSpPr>
          <p:cNvPr id="4" name="TextBox 3"/>
          <p:cNvSpPr txBox="1"/>
          <p:nvPr/>
        </p:nvSpPr>
        <p:spPr>
          <a:xfrm>
            <a:off x="1143000" y="246888"/>
            <a:ext cx="10241280" cy="411480"/>
          </a:xfrm>
          <a:prstGeom prst="rect">
            <a:avLst/>
          </a:prstGeom>
          <a:noFill/>
        </p:spPr>
        <p:txBody>
          <a:bodyPr wrap="square">
            <a:spAutoFit/>
          </a:bodyPr>
          <a:lstStyle/>
          <a:p>
            <a:pPr algn="l">
              <a:defRPr sz="2500" b="1">
                <a:solidFill>
                  <a:srgbClr val="182F49"/>
                </a:solidFill>
                <a:latin typeface="Aptos"/>
              </a:defRPr>
            </a:pPr>
            <a:r>
              <a:t>Practical Work &amp; Evidence</a:t>
            </a:r>
          </a:p>
        </p:txBody>
      </p:sp>
      <p:sp>
        <p:nvSpPr>
          <p:cNvPr id="5" name="TextBox 4"/>
          <p:cNvSpPr txBox="1"/>
          <p:nvPr/>
        </p:nvSpPr>
        <p:spPr>
          <a:xfrm>
            <a:off x="1161288" y="749808"/>
            <a:ext cx="10058400" cy="274320"/>
          </a:xfrm>
          <a:prstGeom prst="rect">
            <a:avLst/>
          </a:prstGeom>
          <a:noFill/>
        </p:spPr>
        <p:txBody>
          <a:bodyPr wrap="square">
            <a:spAutoFit/>
          </a:bodyPr>
          <a:lstStyle/>
          <a:p>
            <a:pPr algn="l">
              <a:defRPr sz="1250" b="0">
                <a:solidFill>
                  <a:srgbClr val="687380"/>
                </a:solidFill>
                <a:latin typeface="Aptos"/>
              </a:defRPr>
            </a:pPr>
            <a:r>
              <a:t>Selected screenshots from the tasks I completed</a:t>
            </a:r>
          </a:p>
        </p:txBody>
      </p:sp>
      <p:sp>
        <p:nvSpPr>
          <p:cNvPr id="6" name="Rectangle 5"/>
          <p:cNvSpPr/>
          <p:nvPr/>
        </p:nvSpPr>
        <p:spPr>
          <a:xfrm>
            <a:off x="640080" y="1133856"/>
            <a:ext cx="10881360" cy="13716"/>
          </a:xfrm>
          <a:prstGeom prst="rect">
            <a:avLst/>
          </a:prstGeom>
          <a:solidFill>
            <a:srgbClr val="D3D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417320"/>
            <a:ext cx="3383280" cy="416052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shot 2026-09-10 215959.png"/>
          <p:cNvPicPr>
            <a:picLocks noChangeAspect="1"/>
          </p:cNvPicPr>
          <p:nvPr/>
        </p:nvPicPr>
        <p:blipFill>
          <a:blip r:embed="rId2"/>
          <a:stretch>
            <a:fillRect/>
          </a:stretch>
        </p:blipFill>
        <p:spPr>
          <a:xfrm>
            <a:off x="795528" y="1600200"/>
            <a:ext cx="3163824" cy="3163824"/>
          </a:xfrm>
          <a:prstGeom prst="rect">
            <a:avLst/>
          </a:prstGeom>
        </p:spPr>
      </p:pic>
      <p:sp>
        <p:nvSpPr>
          <p:cNvPr id="9" name="TextBox 8"/>
          <p:cNvSpPr txBox="1"/>
          <p:nvPr/>
        </p:nvSpPr>
        <p:spPr>
          <a:xfrm>
            <a:off x="850392" y="4965192"/>
            <a:ext cx="3017520" cy="274320"/>
          </a:xfrm>
          <a:prstGeom prst="rect">
            <a:avLst/>
          </a:prstGeom>
          <a:noFill/>
        </p:spPr>
        <p:txBody>
          <a:bodyPr wrap="square">
            <a:spAutoFit/>
          </a:bodyPr>
          <a:lstStyle/>
          <a:p>
            <a:pPr algn="ctr">
              <a:defRPr sz="1300" b="1">
                <a:solidFill>
                  <a:srgbClr val="182F49"/>
                </a:solidFill>
                <a:latin typeface="Aptos"/>
              </a:defRPr>
            </a:pPr>
            <a:r>
              <a:t>Environment setup</a:t>
            </a:r>
          </a:p>
        </p:txBody>
      </p:sp>
      <p:sp>
        <p:nvSpPr>
          <p:cNvPr id="10" name="Rounded Rectangle 9"/>
          <p:cNvSpPr/>
          <p:nvPr/>
        </p:nvSpPr>
        <p:spPr>
          <a:xfrm>
            <a:off x="4343400" y="1417320"/>
            <a:ext cx="3383280" cy="416052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reenshot 2026-09-10 220016.png"/>
          <p:cNvPicPr>
            <a:picLocks noChangeAspect="1"/>
          </p:cNvPicPr>
          <p:nvPr/>
        </p:nvPicPr>
        <p:blipFill>
          <a:blip r:embed="rId3"/>
          <a:stretch>
            <a:fillRect/>
          </a:stretch>
        </p:blipFill>
        <p:spPr>
          <a:xfrm>
            <a:off x="4453128" y="1600200"/>
            <a:ext cx="3163824" cy="3163824"/>
          </a:xfrm>
          <a:prstGeom prst="rect">
            <a:avLst/>
          </a:prstGeom>
        </p:spPr>
      </p:pic>
      <p:sp>
        <p:nvSpPr>
          <p:cNvPr id="12" name="TextBox 11"/>
          <p:cNvSpPr txBox="1"/>
          <p:nvPr/>
        </p:nvSpPr>
        <p:spPr>
          <a:xfrm>
            <a:off x="4507992" y="4965192"/>
            <a:ext cx="3017520" cy="274320"/>
          </a:xfrm>
          <a:prstGeom prst="rect">
            <a:avLst/>
          </a:prstGeom>
          <a:noFill/>
        </p:spPr>
        <p:txBody>
          <a:bodyPr wrap="square">
            <a:spAutoFit/>
          </a:bodyPr>
          <a:lstStyle/>
          <a:p>
            <a:pPr algn="ctr">
              <a:defRPr sz="1300" b="1">
                <a:solidFill>
                  <a:srgbClr val="182F49"/>
                </a:solidFill>
                <a:latin typeface="Aptos"/>
              </a:defRPr>
            </a:pPr>
            <a:r>
              <a:t>Azure / cloud setup</a:t>
            </a:r>
          </a:p>
        </p:txBody>
      </p:sp>
      <p:sp>
        <p:nvSpPr>
          <p:cNvPr id="13" name="Rounded Rectangle 12"/>
          <p:cNvSpPr/>
          <p:nvPr/>
        </p:nvSpPr>
        <p:spPr>
          <a:xfrm>
            <a:off x="8001000" y="1417320"/>
            <a:ext cx="3383280" cy="416052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creenshot 2026-09-10 220028.png"/>
          <p:cNvPicPr>
            <a:picLocks noChangeAspect="1"/>
          </p:cNvPicPr>
          <p:nvPr/>
        </p:nvPicPr>
        <p:blipFill>
          <a:blip r:embed="rId4"/>
          <a:stretch>
            <a:fillRect/>
          </a:stretch>
        </p:blipFill>
        <p:spPr>
          <a:xfrm>
            <a:off x="8110727" y="1600200"/>
            <a:ext cx="3163824" cy="3163824"/>
          </a:xfrm>
          <a:prstGeom prst="rect">
            <a:avLst/>
          </a:prstGeom>
        </p:spPr>
      </p:pic>
      <p:sp>
        <p:nvSpPr>
          <p:cNvPr id="15" name="TextBox 14"/>
          <p:cNvSpPr txBox="1"/>
          <p:nvPr/>
        </p:nvSpPr>
        <p:spPr>
          <a:xfrm>
            <a:off x="8165592" y="4965192"/>
            <a:ext cx="3017520" cy="274320"/>
          </a:xfrm>
          <a:prstGeom prst="rect">
            <a:avLst/>
          </a:prstGeom>
          <a:noFill/>
        </p:spPr>
        <p:txBody>
          <a:bodyPr wrap="square">
            <a:spAutoFit/>
          </a:bodyPr>
          <a:lstStyle/>
          <a:p>
            <a:pPr algn="ctr">
              <a:defRPr sz="1300" b="1">
                <a:solidFill>
                  <a:srgbClr val="182F49"/>
                </a:solidFill>
                <a:latin typeface="Aptos"/>
              </a:defRPr>
            </a:pPr>
            <a:r>
              <a:t>Application registration</a:t>
            </a:r>
          </a:p>
        </p:txBody>
      </p:sp>
      <p:sp>
        <p:nvSpPr>
          <p:cNvPr id="16" name="Rounded Rectangle 15"/>
          <p:cNvSpPr/>
          <p:nvPr/>
        </p:nvSpPr>
        <p:spPr>
          <a:xfrm>
            <a:off x="777240" y="5779008"/>
            <a:ext cx="10515600" cy="384048"/>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79592"/>
            <a:ext cx="10149840" cy="164592"/>
          </a:xfrm>
          <a:prstGeom prst="rect">
            <a:avLst/>
          </a:prstGeom>
          <a:noFill/>
        </p:spPr>
        <p:txBody>
          <a:bodyPr wrap="square">
            <a:spAutoFit/>
          </a:bodyPr>
          <a:lstStyle/>
          <a:p>
            <a:pPr algn="ctr">
              <a:defRPr sz="1080" b="1">
                <a:solidFill>
                  <a:srgbClr val="182F49"/>
                </a:solidFill>
                <a:latin typeface="Aptos"/>
              </a:defRPr>
            </a:pPr>
            <a:r>
              <a:t>The screenshots support the two core areas of the simulation: cloud application setup and practical DevOps tooling.</a:t>
            </a:r>
          </a:p>
        </p:txBody>
      </p:sp>
      <p:sp>
        <p:nvSpPr>
          <p:cNvPr id="18" name="TextBox 17"/>
          <p:cNvSpPr txBox="1"/>
          <p:nvPr/>
        </p:nvSpPr>
        <p:spPr>
          <a:xfrm>
            <a:off x="640080" y="6455664"/>
            <a:ext cx="10789920" cy="182880"/>
          </a:xfrm>
          <a:prstGeom prst="rect">
            <a:avLst/>
          </a:prstGeom>
          <a:noFill/>
        </p:spPr>
        <p:txBody>
          <a:bodyPr wrap="square">
            <a:spAutoFit/>
          </a:bodyPr>
          <a:lstStyle/>
          <a:p>
            <a:pPr algn="l">
              <a:defRPr sz="900" b="0">
                <a:solidFill>
                  <a:srgbClr val="687380"/>
                </a:solidFill>
                <a:latin typeface="Aptos"/>
              </a:defRPr>
            </a:pPr>
            <a:r>
              <a:t>5  |  Naveen Kumar  •  CS-23411631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365760" cy="228600"/>
          </a:xfrm>
          <a:prstGeom prst="rect">
            <a:avLst/>
          </a:prstGeom>
          <a:noFill/>
        </p:spPr>
        <p:txBody>
          <a:bodyPr wrap="square">
            <a:spAutoFit/>
          </a:bodyPr>
          <a:lstStyle/>
          <a:p>
            <a:pPr algn="l">
              <a:defRPr sz="1100" b="1">
                <a:solidFill>
                  <a:srgbClr val="2B68A8"/>
                </a:solidFill>
                <a:latin typeface="Aptos"/>
              </a:defRPr>
            </a:pPr>
            <a:r>
              <a:t>06</a:t>
            </a:r>
          </a:p>
        </p:txBody>
      </p:sp>
      <p:sp>
        <p:nvSpPr>
          <p:cNvPr id="4" name="TextBox 3"/>
          <p:cNvSpPr txBox="1"/>
          <p:nvPr/>
        </p:nvSpPr>
        <p:spPr>
          <a:xfrm>
            <a:off x="1143000" y="246888"/>
            <a:ext cx="10241280" cy="411480"/>
          </a:xfrm>
          <a:prstGeom prst="rect">
            <a:avLst/>
          </a:prstGeom>
          <a:noFill/>
        </p:spPr>
        <p:txBody>
          <a:bodyPr wrap="square">
            <a:spAutoFit/>
          </a:bodyPr>
          <a:lstStyle/>
          <a:p>
            <a:pPr algn="l">
              <a:defRPr sz="2500" b="1">
                <a:solidFill>
                  <a:srgbClr val="182F49"/>
                </a:solidFill>
                <a:latin typeface="Aptos"/>
              </a:defRPr>
            </a:pPr>
            <a:r>
              <a:t>Reflections &amp; Learnings</a:t>
            </a:r>
          </a:p>
        </p:txBody>
      </p:sp>
      <p:sp>
        <p:nvSpPr>
          <p:cNvPr id="5" name="TextBox 4"/>
          <p:cNvSpPr txBox="1"/>
          <p:nvPr/>
        </p:nvSpPr>
        <p:spPr>
          <a:xfrm>
            <a:off x="1161288" y="749808"/>
            <a:ext cx="10058400" cy="274320"/>
          </a:xfrm>
          <a:prstGeom prst="rect">
            <a:avLst/>
          </a:prstGeom>
          <a:noFill/>
        </p:spPr>
        <p:txBody>
          <a:bodyPr wrap="square">
            <a:spAutoFit/>
          </a:bodyPr>
          <a:lstStyle/>
          <a:p>
            <a:pPr algn="l">
              <a:defRPr sz="1250" b="0">
                <a:solidFill>
                  <a:srgbClr val="687380"/>
                </a:solidFill>
                <a:latin typeface="Aptos"/>
              </a:defRPr>
            </a:pPr>
            <a:r>
              <a:t>What changed for me after completing the simulation</a:t>
            </a:r>
          </a:p>
        </p:txBody>
      </p:sp>
      <p:sp>
        <p:nvSpPr>
          <p:cNvPr id="6" name="Rectangle 5"/>
          <p:cNvSpPr/>
          <p:nvPr/>
        </p:nvSpPr>
        <p:spPr>
          <a:xfrm>
            <a:off x="640080" y="1133856"/>
            <a:ext cx="10881360" cy="13716"/>
          </a:xfrm>
          <a:prstGeom prst="rect">
            <a:avLst/>
          </a:prstGeom>
          <a:solidFill>
            <a:srgbClr val="D3DB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10469880" cy="594360"/>
          </a:xfrm>
          <a:prstGeom prst="rect">
            <a:avLst/>
          </a:prstGeom>
          <a:noFill/>
        </p:spPr>
        <p:txBody>
          <a:bodyPr wrap="square">
            <a:spAutoFit/>
          </a:bodyPr>
          <a:lstStyle/>
          <a:p>
            <a:pPr algn="l">
              <a:defRPr sz="1800" b="1">
                <a:solidFill>
                  <a:srgbClr val="182F49"/>
                </a:solidFill>
                <a:latin typeface="Aptos"/>
              </a:defRPr>
            </a:pPr>
            <a:r>
              <a:t>The simulation helped me move from knowing cloud and DevOps as concepts to seeing how the tools connect in a practical workflow.</a:t>
            </a:r>
          </a:p>
        </p:txBody>
      </p:sp>
      <p:sp>
        <p:nvSpPr>
          <p:cNvPr id="8" name="Rounded Rectangle 7"/>
          <p:cNvSpPr/>
          <p:nvPr/>
        </p:nvSpPr>
        <p:spPr>
          <a:xfrm>
            <a:off x="731520" y="2423160"/>
            <a:ext cx="3401568" cy="205740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423160"/>
            <a:ext cx="3401568" cy="64008"/>
          </a:xfrm>
          <a:prstGeom prst="rect">
            <a:avLst/>
          </a:prstGeom>
          <a:solidFill>
            <a:srgbClr val="2B6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24912"/>
            <a:ext cx="2834640" cy="274320"/>
          </a:xfrm>
          <a:prstGeom prst="rect">
            <a:avLst/>
          </a:prstGeom>
          <a:noFill/>
        </p:spPr>
        <p:txBody>
          <a:bodyPr wrap="square">
            <a:spAutoFit/>
          </a:bodyPr>
          <a:lstStyle/>
          <a:p>
            <a:pPr algn="l">
              <a:defRPr sz="1500" b="1">
                <a:solidFill>
                  <a:srgbClr val="182F49"/>
                </a:solidFill>
                <a:latin typeface="Aptos"/>
              </a:defRPr>
            </a:pPr>
            <a:r>
              <a:t>Cloud understanding</a:t>
            </a:r>
          </a:p>
        </p:txBody>
      </p:sp>
      <p:sp>
        <p:nvSpPr>
          <p:cNvPr id="11" name="TextBox 10"/>
          <p:cNvSpPr txBox="1"/>
          <p:nvPr/>
        </p:nvSpPr>
        <p:spPr>
          <a:xfrm>
            <a:off x="960120" y="3200400"/>
            <a:ext cx="2880360" cy="960120"/>
          </a:xfrm>
          <a:prstGeom prst="rect">
            <a:avLst/>
          </a:prstGeom>
          <a:noFill/>
        </p:spPr>
        <p:txBody>
          <a:bodyPr wrap="square">
            <a:spAutoFit/>
          </a:bodyPr>
          <a:lstStyle/>
          <a:p>
            <a:pPr algn="l">
              <a:defRPr sz="1220" b="0">
                <a:solidFill>
                  <a:srgbClr val="687380"/>
                </a:solidFill>
                <a:latin typeface="Aptos"/>
              </a:defRPr>
            </a:pPr>
            <a:r>
              <a:t>I got a clearer picture of how organisations move infrastructure to cloud services and manage application access.</a:t>
            </a:r>
          </a:p>
        </p:txBody>
      </p:sp>
      <p:sp>
        <p:nvSpPr>
          <p:cNvPr id="12" name="Rounded Rectangle 11"/>
          <p:cNvSpPr/>
          <p:nvPr/>
        </p:nvSpPr>
        <p:spPr>
          <a:xfrm>
            <a:off x="4407407" y="2423160"/>
            <a:ext cx="3401568" cy="205740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7" y="2423160"/>
            <a:ext cx="3401568" cy="64008"/>
          </a:xfrm>
          <a:prstGeom prst="rect">
            <a:avLst/>
          </a:prstGeom>
          <a:solidFill>
            <a:srgbClr val="3D7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7" y="2724912"/>
            <a:ext cx="2834640" cy="274320"/>
          </a:xfrm>
          <a:prstGeom prst="rect">
            <a:avLst/>
          </a:prstGeom>
          <a:noFill/>
        </p:spPr>
        <p:txBody>
          <a:bodyPr wrap="square">
            <a:spAutoFit/>
          </a:bodyPr>
          <a:lstStyle/>
          <a:p>
            <a:pPr algn="l">
              <a:defRPr sz="1500" b="1">
                <a:solidFill>
                  <a:srgbClr val="182F49"/>
                </a:solidFill>
                <a:latin typeface="Aptos"/>
              </a:defRPr>
            </a:pPr>
            <a:r>
              <a:t>Technical practice</a:t>
            </a:r>
          </a:p>
        </p:txBody>
      </p:sp>
      <p:sp>
        <p:nvSpPr>
          <p:cNvPr id="15" name="TextBox 14"/>
          <p:cNvSpPr txBox="1"/>
          <p:nvPr/>
        </p:nvSpPr>
        <p:spPr>
          <a:xfrm>
            <a:off x="4636007" y="3200400"/>
            <a:ext cx="2880360" cy="960120"/>
          </a:xfrm>
          <a:prstGeom prst="rect">
            <a:avLst/>
          </a:prstGeom>
          <a:noFill/>
        </p:spPr>
        <p:txBody>
          <a:bodyPr wrap="square">
            <a:spAutoFit/>
          </a:bodyPr>
          <a:lstStyle/>
          <a:p>
            <a:pPr algn="l">
              <a:defRPr sz="1220" b="0">
                <a:solidFill>
                  <a:srgbClr val="687380"/>
                </a:solidFill>
                <a:latin typeface="Aptos"/>
              </a:defRPr>
            </a:pPr>
            <a:r>
              <a:t>I worked with Azure, Microsoft Entra ID, Git, GitHub and GitHub Actions instead of only reading about them.</a:t>
            </a:r>
          </a:p>
        </p:txBody>
      </p:sp>
      <p:sp>
        <p:nvSpPr>
          <p:cNvPr id="16" name="Rounded Rectangle 15"/>
          <p:cNvSpPr/>
          <p:nvPr/>
        </p:nvSpPr>
        <p:spPr>
          <a:xfrm>
            <a:off x="8083296" y="2423160"/>
            <a:ext cx="3401568" cy="2057400"/>
          </a:xfrm>
          <a:prstGeom prst="roundRect">
            <a:avLst/>
          </a:prstGeom>
          <a:solidFill>
            <a:srgbClr val="FFFFFF"/>
          </a:solidFill>
          <a:ln>
            <a:solidFill>
              <a:srgbClr val="D3D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2423160"/>
            <a:ext cx="3401568" cy="64008"/>
          </a:xfrm>
          <a:prstGeom prst="rect">
            <a:avLst/>
          </a:prstGeom>
          <a:solidFill>
            <a:srgbClr val="D87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724912"/>
            <a:ext cx="2834640" cy="274320"/>
          </a:xfrm>
          <a:prstGeom prst="rect">
            <a:avLst/>
          </a:prstGeom>
          <a:noFill/>
        </p:spPr>
        <p:txBody>
          <a:bodyPr wrap="square">
            <a:spAutoFit/>
          </a:bodyPr>
          <a:lstStyle/>
          <a:p>
            <a:pPr algn="l">
              <a:defRPr sz="1500" b="1">
                <a:solidFill>
                  <a:srgbClr val="182F49"/>
                </a:solidFill>
                <a:latin typeface="Aptos"/>
              </a:defRPr>
            </a:pPr>
            <a:r>
              <a:t>Working approach</a:t>
            </a:r>
          </a:p>
        </p:txBody>
      </p:sp>
      <p:sp>
        <p:nvSpPr>
          <p:cNvPr id="19" name="TextBox 18"/>
          <p:cNvSpPr txBox="1"/>
          <p:nvPr/>
        </p:nvSpPr>
        <p:spPr>
          <a:xfrm>
            <a:off x="8311896" y="3200400"/>
            <a:ext cx="2880360" cy="960120"/>
          </a:xfrm>
          <a:prstGeom prst="rect">
            <a:avLst/>
          </a:prstGeom>
          <a:noFill/>
        </p:spPr>
        <p:txBody>
          <a:bodyPr wrap="square">
            <a:spAutoFit/>
          </a:bodyPr>
          <a:lstStyle/>
          <a:p>
            <a:pPr algn="l">
              <a:defRPr sz="1220" b="0">
                <a:solidFill>
                  <a:srgbClr val="687380"/>
                </a:solidFill>
                <a:latin typeface="Aptos"/>
              </a:defRPr>
            </a:pPr>
            <a:r>
              <a:t>I learned to follow technical instructions carefully, test each step and ask for help when something is unclear.</a:t>
            </a:r>
          </a:p>
        </p:txBody>
      </p:sp>
      <p:sp>
        <p:nvSpPr>
          <p:cNvPr id="20" name="Rounded Rectangle 19"/>
          <p:cNvSpPr/>
          <p:nvPr/>
        </p:nvSpPr>
        <p:spPr>
          <a:xfrm>
            <a:off x="731520" y="4892040"/>
            <a:ext cx="10497312" cy="822960"/>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5093208"/>
            <a:ext cx="1600200" cy="228600"/>
          </a:xfrm>
          <a:prstGeom prst="rect">
            <a:avLst/>
          </a:prstGeom>
          <a:noFill/>
        </p:spPr>
        <p:txBody>
          <a:bodyPr wrap="square">
            <a:spAutoFit/>
          </a:bodyPr>
          <a:lstStyle/>
          <a:p>
            <a:pPr algn="l">
              <a:defRPr sz="1400" b="1">
                <a:solidFill>
                  <a:srgbClr val="2B68A8"/>
                </a:solidFill>
                <a:latin typeface="Aptos"/>
              </a:defRPr>
            </a:pPr>
            <a:r>
              <a:t>Personal takeaway</a:t>
            </a:r>
          </a:p>
        </p:txBody>
      </p:sp>
      <p:sp>
        <p:nvSpPr>
          <p:cNvPr id="22" name="TextBox 21"/>
          <p:cNvSpPr txBox="1"/>
          <p:nvPr/>
        </p:nvSpPr>
        <p:spPr>
          <a:xfrm>
            <a:off x="2423160" y="5029200"/>
            <a:ext cx="8366760" cy="347472"/>
          </a:xfrm>
          <a:prstGeom prst="rect">
            <a:avLst/>
          </a:prstGeom>
          <a:noFill/>
        </p:spPr>
        <p:txBody>
          <a:bodyPr wrap="square">
            <a:spAutoFit/>
          </a:bodyPr>
          <a:lstStyle/>
          <a:p>
            <a:pPr algn="l">
              <a:defRPr sz="1300" b="1">
                <a:solidFill>
                  <a:srgbClr val="182F49"/>
                </a:solidFill>
                <a:latin typeface="Aptos"/>
              </a:defRPr>
            </a:pPr>
            <a:r>
              <a:t>Cloud is not just infrastructure — identity, source control and automation are part of the same working picture.</a:t>
            </a:r>
          </a:p>
        </p:txBody>
      </p:sp>
      <p:sp>
        <p:nvSpPr>
          <p:cNvPr id="23" name="TextBox 22"/>
          <p:cNvSpPr txBox="1"/>
          <p:nvPr/>
        </p:nvSpPr>
        <p:spPr>
          <a:xfrm>
            <a:off x="640080" y="6455664"/>
            <a:ext cx="10789920" cy="182880"/>
          </a:xfrm>
          <a:prstGeom prst="rect">
            <a:avLst/>
          </a:prstGeom>
          <a:noFill/>
        </p:spPr>
        <p:txBody>
          <a:bodyPr wrap="square">
            <a:spAutoFit/>
          </a:bodyPr>
          <a:lstStyle/>
          <a:p>
            <a:pPr algn="l">
              <a:defRPr sz="900" b="0">
                <a:solidFill>
                  <a:srgbClr val="687380"/>
                </a:solidFill>
                <a:latin typeface="Aptos"/>
              </a:defRPr>
            </a:pPr>
            <a:r>
              <a:t>6  |  Naveen Kumar  •  CS-23411631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82F49"/>
        </a:solidFill>
        <a:effectLst/>
      </p:bgPr>
    </p:bg>
    <p:spTree>
      <p:nvGrpSpPr>
        <p:cNvPr id="1" name=""/>
        <p:cNvGrpSpPr/>
        <p:nvPr/>
      </p:nvGrpSpPr>
      <p:grpSpPr/>
      <p:sp>
        <p:nvSpPr>
          <p:cNvPr id="2" name="TextBox 1"/>
          <p:cNvSpPr txBox="1"/>
          <p:nvPr/>
        </p:nvSpPr>
        <p:spPr>
          <a:xfrm>
            <a:off x="731520" y="658368"/>
            <a:ext cx="2011680" cy="274320"/>
          </a:xfrm>
          <a:prstGeom prst="rect">
            <a:avLst/>
          </a:prstGeom>
          <a:noFill/>
        </p:spPr>
        <p:txBody>
          <a:bodyPr wrap="square">
            <a:spAutoFit/>
          </a:bodyPr>
          <a:lstStyle/>
          <a:p>
            <a:pPr algn="l">
              <a:defRPr sz="1200" b="1">
                <a:solidFill>
                  <a:srgbClr val="AFCDE6"/>
                </a:solidFill>
                <a:latin typeface="Aptos"/>
              </a:defRPr>
            </a:pPr>
            <a:r>
              <a:t>CONCLUSION</a:t>
            </a:r>
          </a:p>
        </p:txBody>
      </p:sp>
      <p:sp>
        <p:nvSpPr>
          <p:cNvPr id="3" name="TextBox 2"/>
          <p:cNvSpPr txBox="1"/>
          <p:nvPr/>
        </p:nvSpPr>
        <p:spPr>
          <a:xfrm>
            <a:off x="731520" y="1234440"/>
            <a:ext cx="9875520" cy="548640"/>
          </a:xfrm>
          <a:prstGeom prst="rect">
            <a:avLst/>
          </a:prstGeom>
          <a:noFill/>
        </p:spPr>
        <p:txBody>
          <a:bodyPr wrap="square">
            <a:spAutoFit/>
          </a:bodyPr>
          <a:lstStyle/>
          <a:p>
            <a:pPr algn="l">
              <a:defRPr sz="2800" b="1">
                <a:solidFill>
                  <a:srgbClr val="FFFFFF"/>
                </a:solidFill>
                <a:latin typeface="Aptos"/>
              </a:defRPr>
            </a:pPr>
            <a:r>
              <a:t>A practical first step into cloud and DevOps</a:t>
            </a:r>
          </a:p>
        </p:txBody>
      </p:sp>
      <p:sp>
        <p:nvSpPr>
          <p:cNvPr id="4" name="TextBox 3"/>
          <p:cNvSpPr txBox="1"/>
          <p:nvPr/>
        </p:nvSpPr>
        <p:spPr>
          <a:xfrm>
            <a:off x="731520" y="2103120"/>
            <a:ext cx="10332720" cy="1051560"/>
          </a:xfrm>
          <a:prstGeom prst="rect">
            <a:avLst/>
          </a:prstGeom>
          <a:noFill/>
        </p:spPr>
        <p:txBody>
          <a:bodyPr wrap="square">
            <a:spAutoFit/>
          </a:bodyPr>
          <a:lstStyle/>
          <a:p>
            <a:pPr algn="l">
              <a:defRPr sz="1700" b="1">
                <a:solidFill>
                  <a:srgbClr val="DAE6F1"/>
                </a:solidFill>
                <a:latin typeface="Aptos"/>
              </a:defRPr>
            </a:pPr>
            <a:r>
              <a:t>The Introduction to Cloud Job Simulation gave me a realistic view of junior DevOps work. I completed practical tasks around cloud application registration and GitHub Actions, while building confidence with tools, documentation and problem solving.</a:t>
            </a:r>
          </a:p>
        </p:txBody>
      </p:sp>
      <p:sp>
        <p:nvSpPr>
          <p:cNvPr id="5" name="Rounded Rectangle 4"/>
          <p:cNvSpPr/>
          <p:nvPr/>
        </p:nvSpPr>
        <p:spPr>
          <a:xfrm>
            <a:off x="731520" y="3520440"/>
            <a:ext cx="10469880" cy="1325880"/>
          </a:xfrm>
          <a:prstGeom prst="roundRect">
            <a:avLst/>
          </a:prstGeom>
          <a:solidFill>
            <a:srgbClr val="2541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767328"/>
            <a:ext cx="1828800" cy="228600"/>
          </a:xfrm>
          <a:prstGeom prst="rect">
            <a:avLst/>
          </a:prstGeom>
          <a:noFill/>
        </p:spPr>
        <p:txBody>
          <a:bodyPr wrap="square">
            <a:spAutoFit/>
          </a:bodyPr>
          <a:lstStyle/>
          <a:p>
            <a:pPr algn="l">
              <a:defRPr sz="1200" b="1">
                <a:solidFill>
                  <a:srgbClr val="AFCDE6"/>
                </a:solidFill>
                <a:latin typeface="Aptos"/>
              </a:defRPr>
            </a:pPr>
            <a:r>
              <a:t>CORE AREAS</a:t>
            </a:r>
          </a:p>
        </p:txBody>
      </p:sp>
      <p:sp>
        <p:nvSpPr>
          <p:cNvPr id="7" name="TextBox 6"/>
          <p:cNvSpPr txBox="1"/>
          <p:nvPr/>
        </p:nvSpPr>
        <p:spPr>
          <a:xfrm>
            <a:off x="1005840" y="4178808"/>
            <a:ext cx="9326880" cy="320040"/>
          </a:xfrm>
          <a:prstGeom prst="rect">
            <a:avLst/>
          </a:prstGeom>
          <a:noFill/>
        </p:spPr>
        <p:txBody>
          <a:bodyPr wrap="square">
            <a:spAutoFit/>
          </a:bodyPr>
          <a:lstStyle/>
          <a:p>
            <a:pPr algn="l">
              <a:defRPr sz="1300" b="1">
                <a:solidFill>
                  <a:srgbClr val="FFFFFF"/>
                </a:solidFill>
                <a:latin typeface="Aptos"/>
              </a:defRPr>
            </a:pPr>
            <a:r>
              <a:t>Azure / Entra ID   •   Git &amp; GitHub   •   GitHub Actions   •   YAML   •   Cloud fundamentals</a:t>
            </a:r>
          </a:p>
        </p:txBody>
      </p:sp>
      <p:sp>
        <p:nvSpPr>
          <p:cNvPr id="8" name="TextBox 7"/>
          <p:cNvSpPr txBox="1"/>
          <p:nvPr/>
        </p:nvSpPr>
        <p:spPr>
          <a:xfrm>
            <a:off x="731520" y="5486400"/>
            <a:ext cx="3657600" cy="320040"/>
          </a:xfrm>
          <a:prstGeom prst="rect">
            <a:avLst/>
          </a:prstGeom>
          <a:noFill/>
        </p:spPr>
        <p:txBody>
          <a:bodyPr wrap="square">
            <a:spAutoFit/>
          </a:bodyPr>
          <a:lstStyle/>
          <a:p>
            <a:pPr algn="l">
              <a:defRPr sz="1600" b="1">
                <a:solidFill>
                  <a:srgbClr val="FFFFFF"/>
                </a:solidFill>
                <a:latin typeface="Aptos"/>
              </a:defRPr>
            </a:pPr>
            <a:r>
              <a:t>Naveen Kumar</a:t>
            </a:r>
          </a:p>
        </p:txBody>
      </p:sp>
      <p:sp>
        <p:nvSpPr>
          <p:cNvPr id="9" name="TextBox 8"/>
          <p:cNvSpPr txBox="1"/>
          <p:nvPr/>
        </p:nvSpPr>
        <p:spPr>
          <a:xfrm>
            <a:off x="731520" y="5897880"/>
            <a:ext cx="5120640" cy="228600"/>
          </a:xfrm>
          <a:prstGeom prst="rect">
            <a:avLst/>
          </a:prstGeom>
          <a:noFill/>
        </p:spPr>
        <p:txBody>
          <a:bodyPr wrap="square">
            <a:spAutoFit/>
          </a:bodyPr>
          <a:lstStyle/>
          <a:p>
            <a:pPr algn="l">
              <a:defRPr sz="1150" b="0">
                <a:solidFill>
                  <a:srgbClr val="BECFDF"/>
                </a:solidFill>
                <a:latin typeface="Aptos"/>
              </a:defRPr>
            </a:pPr>
            <a:r>
              <a:t>Cloud Computing  |  Roll No. CS-23411631</a:t>
            </a:r>
          </a:p>
        </p:txBody>
      </p:sp>
      <p:sp>
        <p:nvSpPr>
          <p:cNvPr id="10" name="TextBox 9"/>
          <p:cNvSpPr txBox="1"/>
          <p:nvPr/>
        </p:nvSpPr>
        <p:spPr>
          <a:xfrm>
            <a:off x="8869680" y="5532120"/>
            <a:ext cx="2103120" cy="320040"/>
          </a:xfrm>
          <a:prstGeom prst="rect">
            <a:avLst/>
          </a:prstGeom>
          <a:noFill/>
        </p:spPr>
        <p:txBody>
          <a:bodyPr wrap="square">
            <a:spAutoFit/>
          </a:bodyPr>
          <a:lstStyle/>
          <a:p>
            <a:pPr algn="r">
              <a:defRPr sz="1800" b="1">
                <a:solidFill>
                  <a:srgbClr val="C8DCED"/>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